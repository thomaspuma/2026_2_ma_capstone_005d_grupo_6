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2" r:id="rId5"/>
    <p:sldId id="259" r:id="rId6"/>
    <p:sldId id="263" r:id="rId7"/>
    <p:sldId id="273" r:id="rId8"/>
    <p:sldId id="264" r:id="rId9"/>
    <p:sldId id="262" r:id="rId10"/>
    <p:sldId id="270" r:id="rId11"/>
    <p:sldId id="260" r:id="rId12"/>
    <p:sldId id="271" r:id="rId13"/>
    <p:sldId id="267" r:id="rId14"/>
    <p:sldId id="275" r:id="rId15"/>
    <p:sldId id="274" r:id="rId16"/>
    <p:sldId id="276" r:id="rId17"/>
    <p:sldId id="277" r:id="rId18"/>
    <p:sldId id="279" r:id="rId19"/>
    <p:sldId id="278" r:id="rId20"/>
    <p:sldId id="280" r:id="rId21"/>
    <p:sldId id="261" r:id="rId22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3"/>
    <p:restoredTop sz="95615"/>
  </p:normalViewPr>
  <p:slideViewPr>
    <p:cSldViewPr snapToGrid="0">
      <p:cViewPr varScale="1">
        <p:scale>
          <a:sx n="85" d="100"/>
          <a:sy n="85" d="100"/>
        </p:scale>
        <p:origin x="6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01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02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03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Etapa 1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A4ADCE-37ED-75E7-798D-6D9D91BE7AB1}"/>
              </a:ext>
            </a:extLst>
          </p:cNvPr>
          <p:cNvSpPr/>
          <p:nvPr/>
        </p:nvSpPr>
        <p:spPr>
          <a:xfrm>
            <a:off x="143435" y="5773271"/>
            <a:ext cx="4894729" cy="896471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630800-FD0E-9385-765C-F4771516FAC4}"/>
              </a:ext>
            </a:extLst>
          </p:cNvPr>
          <p:cNvSpPr txBox="1"/>
          <p:nvPr/>
        </p:nvSpPr>
        <p:spPr>
          <a:xfrm>
            <a:off x="143436" y="5746412"/>
            <a:ext cx="4894728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Asignatura: </a:t>
            </a:r>
            <a:r>
              <a:rPr lang="es-C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(PT4614 </a:t>
            </a:r>
            <a:r>
              <a:rPr lang="es-CL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</a:t>
            </a:r>
            <a:r>
              <a:rPr lang="es-C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Sección 005D)</a:t>
            </a:r>
            <a:endParaRPr lang="es-MX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Docente:</a:t>
            </a:r>
            <a:r>
              <a:rPr lang="es-CL" dirty="0">
                <a:solidFill>
                  <a:schemeClr val="bg1"/>
                </a:solidFill>
              </a:rPr>
              <a:t>Fabián Alejandro Álvarez Montenegro</a:t>
            </a:r>
          </a:p>
          <a:p>
            <a:pPr>
              <a:lnSpc>
                <a:spcPct val="150000"/>
              </a:lnSpc>
            </a:pP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775597"/>
          </a:xfrm>
        </p:spPr>
        <p:txBody>
          <a:bodyPr/>
          <a:lstStyle/>
          <a:p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Proyecto Digitalización “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Matteo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Masas”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9687782-1D9F-67FF-BBE3-130CAEFCB3C6}"/>
              </a:ext>
            </a:extLst>
          </p:cNvPr>
          <p:cNvSpPr txBox="1"/>
          <p:nvPr/>
        </p:nvSpPr>
        <p:spPr>
          <a:xfrm>
            <a:off x="6096000" y="5321006"/>
            <a:ext cx="308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Integrantes: </a:t>
            </a:r>
            <a:r>
              <a:rPr lang="es-C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-Alyson Cuevas</a:t>
            </a:r>
            <a:endParaRPr lang="es-MX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3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-Thomas Puma</a:t>
            </a:r>
            <a:r>
              <a:rPr lang="es-C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40D1F80-851F-1973-8268-45A5341C5F39}"/>
              </a:ext>
            </a:extLst>
          </p:cNvPr>
          <p:cNvSpPr txBox="1"/>
          <p:nvPr/>
        </p:nvSpPr>
        <p:spPr>
          <a:xfrm>
            <a:off x="9332259" y="5321006"/>
            <a:ext cx="2079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Fecha: 3/09/2026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1DC5E8F-BDDB-3A4A-323B-4B576C1DFE2F}"/>
              </a:ext>
            </a:extLst>
          </p:cNvPr>
          <p:cNvSpPr/>
          <p:nvPr/>
        </p:nvSpPr>
        <p:spPr>
          <a:xfrm>
            <a:off x="0" y="283045"/>
            <a:ext cx="6257365" cy="3404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4333" y="48203"/>
            <a:ext cx="5737150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Resumen Ejecutivo del Proyecto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463" y="873943"/>
            <a:ext cx="11605073" cy="195328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CL" sz="1800" b="1" dirty="0"/>
              <a:t>Contexto:</a:t>
            </a:r>
            <a:r>
              <a:rPr lang="es-CL" sz="1800" dirty="0"/>
              <a:t> "</a:t>
            </a:r>
            <a:r>
              <a:rPr lang="es-CL" sz="1800" dirty="0" err="1"/>
              <a:t>Matteo</a:t>
            </a:r>
            <a:r>
              <a:rPr lang="es-CL" sz="1800" dirty="0"/>
              <a:t> Masas" es una pyme familiar comercializadora de masas saladas y dulces situada en la comuna de Padre Hurtado</a:t>
            </a:r>
          </a:p>
          <a:p>
            <a:pPr marL="0" indent="0" algn="just">
              <a:buNone/>
            </a:pPr>
            <a:r>
              <a:rPr lang="es-CL" sz="1800" b="1" dirty="0"/>
              <a:t>Problema:</a:t>
            </a:r>
            <a:r>
              <a:rPr lang="es-CL" sz="1800" dirty="0"/>
              <a:t> Control de inventario y recepción de pedidos gestionados manualmente, lo que genera errores en el cálculo de stock y demoras en atención. </a:t>
            </a:r>
          </a:p>
          <a:p>
            <a:pPr marL="0" indent="0" algn="just">
              <a:buNone/>
            </a:pPr>
            <a:r>
              <a:rPr lang="es-CL" sz="1800" b="1" dirty="0"/>
              <a:t>Ejecución Técnica:</a:t>
            </a:r>
            <a:r>
              <a:rPr lang="es-CL" sz="1800" dirty="0"/>
              <a:t> Desarrollo bajo metodología ágil Scrum, con arquitectura web moderna y base de datos relacional durante un periodo de 13 semanas</a:t>
            </a:r>
          </a:p>
          <a:p>
            <a:pPr marL="0" indent="0" algn="just">
              <a:buNone/>
            </a:pPr>
            <a:r>
              <a:rPr lang="es-CL" sz="1800" b="1" dirty="0"/>
              <a:t>Solución propuesta:</a:t>
            </a:r>
            <a:r>
              <a:rPr lang="es-CL" sz="1800" dirty="0"/>
              <a:t> Plataforma web integral compuesta por dos módulos.</a:t>
            </a:r>
            <a:endParaRPr lang="es-C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CE5A82E-0855-3756-433F-F715AB284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854" y="3183282"/>
            <a:ext cx="2931443" cy="2548055"/>
          </a:xfrm>
          <a:prstGeom prst="rect">
            <a:avLst/>
          </a:prstGeom>
        </p:spPr>
      </p:pic>
      <p:sp>
        <p:nvSpPr>
          <p:cNvPr id="11" name="Rectángulo: esquinas superiores, una redondeada y la otra cortada 10">
            <a:extLst>
              <a:ext uri="{FF2B5EF4-FFF2-40B4-BE49-F238E27FC236}">
                <a16:creationId xmlns:a16="http://schemas.microsoft.com/office/drawing/2014/main" id="{18564382-7929-24F9-66ED-89B016B33FF9}"/>
              </a:ext>
            </a:extLst>
          </p:cNvPr>
          <p:cNvSpPr/>
          <p:nvPr/>
        </p:nvSpPr>
        <p:spPr>
          <a:xfrm>
            <a:off x="430305" y="3183282"/>
            <a:ext cx="3469342" cy="2679635"/>
          </a:xfrm>
          <a:prstGeom prst="snipRoundRect">
            <a:avLst/>
          </a:prstGeom>
          <a:solidFill>
            <a:schemeClr val="tx2">
              <a:lumMod val="75000"/>
              <a:lumOff val="2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Vista Cliente:</a:t>
            </a:r>
            <a:r>
              <a:rPr lang="es-CL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Catálogo dinámico, carrito de compras y registro de pedidos en línea.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0CB3FE7-011B-99BA-B5B3-6A7A1CB5EC1C}"/>
              </a:ext>
            </a:extLst>
          </p:cNvPr>
          <p:cNvCxnSpPr>
            <a:cxnSpLocks/>
          </p:cNvCxnSpPr>
          <p:nvPr/>
        </p:nvCxnSpPr>
        <p:spPr>
          <a:xfrm flipH="1" flipV="1">
            <a:off x="4035643" y="4061310"/>
            <a:ext cx="756000" cy="396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DC4EBFA-3D1E-EB83-A6E9-4996F0C62EB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669297" y="4061309"/>
            <a:ext cx="756000" cy="3960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superiores, una redondeada y la otra cortada 18">
            <a:extLst>
              <a:ext uri="{FF2B5EF4-FFF2-40B4-BE49-F238E27FC236}">
                <a16:creationId xmlns:a16="http://schemas.microsoft.com/office/drawing/2014/main" id="{9E6525D5-3EE8-7312-1957-0F48B510FE9B}"/>
              </a:ext>
            </a:extLst>
          </p:cNvPr>
          <p:cNvSpPr/>
          <p:nvPr/>
        </p:nvSpPr>
        <p:spPr>
          <a:xfrm>
            <a:off x="8507504" y="3051702"/>
            <a:ext cx="3469342" cy="2679635"/>
          </a:xfrm>
          <a:prstGeom prst="snipRoundRect">
            <a:avLst/>
          </a:prstGeom>
          <a:solidFill>
            <a:schemeClr val="tx2">
              <a:lumMod val="75000"/>
              <a:lumOff val="2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Vista Administrador:</a:t>
            </a:r>
            <a:r>
              <a:rPr lang="es-CL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Panel de control privado para la dueña con monitoreo de pedidos en tiempo real y alertas automáticas de stock crítico.</a:t>
            </a:r>
          </a:p>
        </p:txBody>
      </p:sp>
    </p:spTree>
    <p:extLst>
      <p:ext uri="{BB962C8B-B14F-4D97-AF65-F5344CB8AC3E}">
        <p14:creationId xmlns:p14="http://schemas.microsoft.com/office/powerpoint/2010/main" val="31710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BB4C7-D01B-3BCB-C12A-831C9291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2729" y="2725822"/>
            <a:ext cx="3603812" cy="1873072"/>
          </a:xfrm>
        </p:spPr>
        <p:txBody>
          <a:bodyPr>
            <a:normAutofit/>
          </a:bodyPr>
          <a:lstStyle/>
          <a:p>
            <a:r>
              <a:rPr lang="es-CL" sz="2800" dirty="0"/>
              <a:t>Problema de Negocio y Relevancia Laboral</a:t>
            </a:r>
            <a:endParaRPr lang="es-CL" sz="2800" i="1" dirty="0"/>
          </a:p>
        </p:txBody>
      </p:sp>
    </p:spTree>
    <p:extLst>
      <p:ext uri="{BB962C8B-B14F-4D97-AF65-F5344CB8AC3E}">
        <p14:creationId xmlns:p14="http://schemas.microsoft.com/office/powerpoint/2010/main" val="218618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63025957-7A26-1AA0-CB66-473C280AA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21620" y="4986162"/>
            <a:ext cx="3415553" cy="188122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AE00FEB-18B1-06CE-5DE7-227E5871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30" y="0"/>
            <a:ext cx="3966090" cy="2184449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E72DDD2-E70D-22E0-7DAD-CF3D551F7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946944"/>
              </p:ext>
            </p:extLst>
          </p:nvPr>
        </p:nvGraphicFramePr>
        <p:xfrm>
          <a:off x="309523" y="771079"/>
          <a:ext cx="11572954" cy="443715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786477">
                  <a:extLst>
                    <a:ext uri="{9D8B030D-6E8A-4147-A177-3AD203B41FA5}">
                      <a16:colId xmlns:a16="http://schemas.microsoft.com/office/drawing/2014/main" val="2698617504"/>
                    </a:ext>
                  </a:extLst>
                </a:gridCol>
                <a:gridCol w="5786477">
                  <a:extLst>
                    <a:ext uri="{9D8B030D-6E8A-4147-A177-3AD203B41FA5}">
                      <a16:colId xmlns:a16="http://schemas.microsoft.com/office/drawing/2014/main" val="1840057182"/>
                    </a:ext>
                  </a:extLst>
                </a:gridCol>
              </a:tblGrid>
              <a:tr h="1122703"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Oportunidad y Problema de Negocio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Relevancia e Impacto en el Campo Laboral</a:t>
                      </a:r>
                      <a:endParaRPr lang="es-CL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081204"/>
                  </a:ext>
                </a:extLst>
              </a:tr>
              <a:tr h="1199041">
                <a:tc>
                  <a:txBody>
                    <a:bodyPr/>
                    <a:lstStyle/>
                    <a:p>
                      <a:pPr algn="just"/>
                      <a:r>
                        <a:rPr lang="es-MX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Procesos Manuales: </a:t>
                      </a:r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Registro informal de ventas y falta de trazabilidad en la cola de pedidos</a:t>
                      </a:r>
                      <a:endParaRPr lang="es-CL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Aporte a la Industria TI: </a:t>
                      </a:r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Responde a la alta demanda laboral de transformación digital en el sector de microempresas y comercio minorista.</a:t>
                      </a:r>
                      <a:endParaRPr lang="es-CL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5765673"/>
                  </a:ext>
                </a:extLst>
              </a:tr>
              <a:tr h="2115407">
                <a:tc>
                  <a:txBody>
                    <a:bodyPr/>
                    <a:lstStyle/>
                    <a:p>
                      <a:pPr algn="just"/>
                      <a:r>
                        <a:rPr lang="es-MX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Quiebres de Stock: </a:t>
                      </a:r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Pérdida de ventas y errores en la producción de productos de alta demanda (panes de completo, churrasco, marraquetas, hallullas, berlines, sopaipillas, etc.).</a:t>
                      </a:r>
                      <a:endParaRPr lang="es-CL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Valor para el Negocio: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Reducción de márgenes de error operacionales en la gestión de insumos.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Optimización de los tiempos de preparación del local.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/>
                        <a:t>Mejora directa en la experiencia de compra mediante un canal de venta online fluido</a:t>
                      </a:r>
                      <a:endParaRPr lang="es-CL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0879006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FA8657C0-36CD-90B4-F9E0-DFC287EB3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883" y="4682936"/>
            <a:ext cx="2866550" cy="218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4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D5F-3083-1EF5-C86C-E4F5A64A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553" y="2645140"/>
            <a:ext cx="3348462" cy="1899966"/>
          </a:xfrm>
        </p:spPr>
        <p:txBody>
          <a:bodyPr>
            <a:normAutofit/>
          </a:bodyPr>
          <a:lstStyle/>
          <a:p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Alineación con Perfil de Egreso e Intereses Profesionales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71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0EBFEA3-8817-7C7F-AABF-CDD33E810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952" y="0"/>
            <a:ext cx="3290047" cy="1812096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B2A57AB-3D75-9A15-C9CB-A0DEA4963669}"/>
              </a:ext>
            </a:extLst>
          </p:cNvPr>
          <p:cNvCxnSpPr>
            <a:cxnSpLocks/>
          </p:cNvCxnSpPr>
          <p:nvPr/>
        </p:nvCxnSpPr>
        <p:spPr>
          <a:xfrm>
            <a:off x="1120588" y="3105931"/>
            <a:ext cx="11071412" cy="60589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AEA90C8-230A-610E-0BCD-3C4215749CF4}"/>
              </a:ext>
            </a:extLst>
          </p:cNvPr>
          <p:cNvSpPr txBox="1"/>
          <p:nvPr/>
        </p:nvSpPr>
        <p:spPr>
          <a:xfrm>
            <a:off x="1219199" y="633180"/>
            <a:ext cx="86599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Competencias del Perfil de Egreso Aplicadas: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de Software Web: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Aplicación de arquitectura Full-Stack (Frontend interactivo y Backend con API REST).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Bases de Datos Relacionales: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Modelamiento y estructuración lógica/física para el control de inventario y transacciones.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Informática e Ingeniería de Requisitos: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Levantamiento directo de requerimientos y gestión ágil del ciclo de vida del software.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A7A7EEE-5DDF-B4C5-567D-032CC4AF0477}"/>
              </a:ext>
            </a:extLst>
          </p:cNvPr>
          <p:cNvSpPr txBox="1"/>
          <p:nvPr/>
        </p:nvSpPr>
        <p:spPr>
          <a:xfrm>
            <a:off x="1219199" y="3244334"/>
            <a:ext cx="74496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Intereses Profesionales del Equipo: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Especialización: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de software orientado al comercio electrónico y sistemas distribuidos.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Crecimiento Profesional: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Experiencia directa en el tratamiento con clientes reales, toma de decisiones de arquitectura y despliegue de soluciones en producción.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6194502-8264-2192-E1C1-3D8B10DFC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330" y="2160822"/>
            <a:ext cx="3523130" cy="413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5F066-A122-A7BB-EAE9-7C279328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35" y="2545976"/>
            <a:ext cx="3424518" cy="2115671"/>
          </a:xfrm>
        </p:spPr>
        <p:txBody>
          <a:bodyPr>
            <a:normAutofit/>
          </a:bodyPr>
          <a:lstStyle/>
          <a:p>
            <a:r>
              <a:rPr lang="es-CL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 General y Específicos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62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A434F78-297A-7420-F3B7-44016AD9950A}"/>
              </a:ext>
            </a:extLst>
          </p:cNvPr>
          <p:cNvSpPr txBox="1"/>
          <p:nvPr/>
        </p:nvSpPr>
        <p:spPr>
          <a:xfrm>
            <a:off x="1156446" y="1997839"/>
            <a:ext cx="32990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solidFill>
                  <a:schemeClr val="bg1"/>
                </a:solidFill>
              </a:rPr>
              <a:t>"Desarrollar e implementar un sistema web transaccional y de gestión de stock para la pyme </a:t>
            </a:r>
            <a:r>
              <a:rPr lang="es-CL" dirty="0" err="1">
                <a:solidFill>
                  <a:schemeClr val="bg1"/>
                </a:solidFill>
              </a:rPr>
              <a:t>Matteo</a:t>
            </a:r>
            <a:r>
              <a:rPr lang="es-CL" dirty="0">
                <a:solidFill>
                  <a:schemeClr val="bg1"/>
                </a:solidFill>
              </a:rPr>
              <a:t> Masas en Padre Hurtado, permitiendo la compra en línea por parte de los clientes y la administración centralizada de pedidos e inventario por parte de la dueña del local."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FD2730EC-BACC-48BA-276A-884A303ECC1B}"/>
              </a:ext>
            </a:extLst>
          </p:cNvPr>
          <p:cNvSpPr/>
          <p:nvPr/>
        </p:nvSpPr>
        <p:spPr>
          <a:xfrm>
            <a:off x="4957482" y="1150459"/>
            <a:ext cx="645459" cy="4527177"/>
          </a:xfrm>
          <a:prstGeom prst="rightBrac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8D6F7B3-2E22-10CF-B323-B372E2ED7A19}"/>
              </a:ext>
            </a:extLst>
          </p:cNvPr>
          <p:cNvSpPr txBox="1"/>
          <p:nvPr/>
        </p:nvSpPr>
        <p:spPr>
          <a:xfrm>
            <a:off x="4957482" y="111019"/>
            <a:ext cx="3299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 Específicos:</a:t>
            </a:r>
          </a:p>
        </p:txBody>
      </p:sp>
      <p:sp>
        <p:nvSpPr>
          <p:cNvPr id="10" name="Heptágono 9">
            <a:extLst>
              <a:ext uri="{FF2B5EF4-FFF2-40B4-BE49-F238E27FC236}">
                <a16:creationId xmlns:a16="http://schemas.microsoft.com/office/drawing/2014/main" id="{CA29C5FA-BAC6-4CFE-721F-3F4C2ABDB68D}"/>
              </a:ext>
            </a:extLst>
          </p:cNvPr>
          <p:cNvSpPr/>
          <p:nvPr/>
        </p:nvSpPr>
        <p:spPr>
          <a:xfrm>
            <a:off x="5535700" y="940253"/>
            <a:ext cx="466163" cy="405503"/>
          </a:xfrm>
          <a:prstGeom prst="heptagon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76438CB-11CB-9E0B-7B63-ABB8188BC02C}"/>
              </a:ext>
            </a:extLst>
          </p:cNvPr>
          <p:cNvSpPr txBox="1"/>
          <p:nvPr/>
        </p:nvSpPr>
        <p:spPr>
          <a:xfrm>
            <a:off x="6024281" y="827293"/>
            <a:ext cx="574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Levantar y formalizar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los requerimientos funcionales y no funcionales junto a la cliente.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068169-8BA8-E32F-6396-CDDF99FD78B9}"/>
              </a:ext>
            </a:extLst>
          </p:cNvPr>
          <p:cNvSpPr txBox="1"/>
          <p:nvPr/>
        </p:nvSpPr>
        <p:spPr>
          <a:xfrm>
            <a:off x="6024280" y="1601891"/>
            <a:ext cx="574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Diseñar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 modelo relacional de datos y los prototipos de interfaz de usuario (Vista Cliente y Vista </a:t>
            </a:r>
            <a:r>
              <a:rPr lang="es-C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9F94560-9FDF-8870-7404-2161B9DFE146}"/>
              </a:ext>
            </a:extLst>
          </p:cNvPr>
          <p:cNvSpPr txBox="1"/>
          <p:nvPr/>
        </p:nvSpPr>
        <p:spPr>
          <a:xfrm>
            <a:off x="923361" y="417033"/>
            <a:ext cx="3299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 General</a:t>
            </a:r>
          </a:p>
        </p:txBody>
      </p:sp>
      <p:sp>
        <p:nvSpPr>
          <p:cNvPr id="27" name="Heptágono 26">
            <a:extLst>
              <a:ext uri="{FF2B5EF4-FFF2-40B4-BE49-F238E27FC236}">
                <a16:creationId xmlns:a16="http://schemas.microsoft.com/office/drawing/2014/main" id="{5A0620A6-C602-2D42-885C-08A2E32DCB1B}"/>
              </a:ext>
            </a:extLst>
          </p:cNvPr>
          <p:cNvSpPr/>
          <p:nvPr/>
        </p:nvSpPr>
        <p:spPr>
          <a:xfrm>
            <a:off x="5535701" y="1722304"/>
            <a:ext cx="466163" cy="405503"/>
          </a:xfrm>
          <a:prstGeom prst="heptagon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Heptágono 28">
            <a:extLst>
              <a:ext uri="{FF2B5EF4-FFF2-40B4-BE49-F238E27FC236}">
                <a16:creationId xmlns:a16="http://schemas.microsoft.com/office/drawing/2014/main" id="{0B297852-A282-18E1-708C-802875CBC86F}"/>
              </a:ext>
            </a:extLst>
          </p:cNvPr>
          <p:cNvSpPr/>
          <p:nvPr/>
        </p:nvSpPr>
        <p:spPr>
          <a:xfrm>
            <a:off x="5535701" y="2625659"/>
            <a:ext cx="466163" cy="405503"/>
          </a:xfrm>
          <a:prstGeom prst="heptagon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7448572-321D-7337-15EF-1E8D8EEB5511}"/>
              </a:ext>
            </a:extLst>
          </p:cNvPr>
          <p:cNvSpPr txBox="1"/>
          <p:nvPr/>
        </p:nvSpPr>
        <p:spPr>
          <a:xfrm>
            <a:off x="6024281" y="2505244"/>
            <a:ext cx="5746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Construir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 módulo cliente con catálogo interactivo y procesamiento de pedidos.</a:t>
            </a:r>
          </a:p>
        </p:txBody>
      </p:sp>
      <p:sp>
        <p:nvSpPr>
          <p:cNvPr id="33" name="Heptágono 32">
            <a:extLst>
              <a:ext uri="{FF2B5EF4-FFF2-40B4-BE49-F238E27FC236}">
                <a16:creationId xmlns:a16="http://schemas.microsoft.com/office/drawing/2014/main" id="{F4F0494C-EA35-323B-B1F2-AE566BA9E1CE}"/>
              </a:ext>
            </a:extLst>
          </p:cNvPr>
          <p:cNvSpPr/>
          <p:nvPr/>
        </p:nvSpPr>
        <p:spPr>
          <a:xfrm>
            <a:off x="5535700" y="3547382"/>
            <a:ext cx="466163" cy="405503"/>
          </a:xfrm>
          <a:prstGeom prst="heptagon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F463DED-B66F-6756-4B48-F9AAD5D26DB9}"/>
              </a:ext>
            </a:extLst>
          </p:cNvPr>
          <p:cNvSpPr txBox="1"/>
          <p:nvPr/>
        </p:nvSpPr>
        <p:spPr>
          <a:xfrm>
            <a:off x="6001863" y="3429000"/>
            <a:ext cx="5768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 módulo administrador para el control de stock en tiempo real y cambio de estados de pedidos.</a:t>
            </a:r>
          </a:p>
        </p:txBody>
      </p:sp>
      <p:sp>
        <p:nvSpPr>
          <p:cNvPr id="37" name="Heptágono 36">
            <a:extLst>
              <a:ext uri="{FF2B5EF4-FFF2-40B4-BE49-F238E27FC236}">
                <a16:creationId xmlns:a16="http://schemas.microsoft.com/office/drawing/2014/main" id="{4A3E2E2B-A4E2-9CDF-D1CC-A657A799C343}"/>
              </a:ext>
            </a:extLst>
          </p:cNvPr>
          <p:cNvSpPr/>
          <p:nvPr/>
        </p:nvSpPr>
        <p:spPr>
          <a:xfrm>
            <a:off x="5535700" y="4193713"/>
            <a:ext cx="466163" cy="405503"/>
          </a:xfrm>
          <a:prstGeom prst="heptagon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A7A7B98-D307-A649-E5C3-E0D9179FD83E}"/>
              </a:ext>
            </a:extLst>
          </p:cNvPr>
          <p:cNvSpPr txBox="1"/>
          <p:nvPr/>
        </p:nvSpPr>
        <p:spPr>
          <a:xfrm>
            <a:off x="6001863" y="4084959"/>
            <a:ext cx="5768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Ejecutar</a:t>
            </a:r>
            <a:r>
              <a:rPr lang="es-CL" dirty="0"/>
              <a:t> pruebas de software e implantar el sistema en un entorno servidor web de producción para la semana 13. 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11F7638C-22D1-A84F-7B73-CF03216B7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965" y="4696215"/>
            <a:ext cx="3039035" cy="217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37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CB314-CE82-65BE-C60F-1EA15F85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0635" y="2671482"/>
            <a:ext cx="3155577" cy="1927412"/>
          </a:xfrm>
        </p:spPr>
        <p:txBody>
          <a:bodyPr>
            <a:noAutofit/>
          </a:bodyPr>
          <a:lstStyle/>
          <a:p>
            <a:pPr algn="ctr"/>
            <a:r>
              <a:rPr lang="es-CL" sz="2800" dirty="0"/>
              <a:t>Metodología de Trabajo: Ágil (Scrum / Kanban) 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507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348FDD4-EAD3-6A93-A2E3-AA8DD879C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9045388" y="5124905"/>
            <a:ext cx="3146612" cy="17330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B4B2620-1054-4A01-AAEF-BF35EBD71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3146612" cy="1733095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85D5BA5-1AA4-E445-DFD4-6D3EB1A1D7DE}"/>
              </a:ext>
            </a:extLst>
          </p:cNvPr>
          <p:cNvCxnSpPr/>
          <p:nvPr/>
        </p:nvCxnSpPr>
        <p:spPr>
          <a:xfrm>
            <a:off x="6113929" y="-125506"/>
            <a:ext cx="0" cy="698350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822FA9-CFDB-8C4A-F302-35A6EC880254}"/>
              </a:ext>
            </a:extLst>
          </p:cNvPr>
          <p:cNvSpPr txBox="1"/>
          <p:nvPr/>
        </p:nvSpPr>
        <p:spPr>
          <a:xfrm>
            <a:off x="795621" y="1582090"/>
            <a:ext cx="4329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Selección de Metodología: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91C85A4-EA0A-A90C-FCDC-30D7FC4F5C48}"/>
              </a:ext>
            </a:extLst>
          </p:cNvPr>
          <p:cNvSpPr txBox="1"/>
          <p:nvPr/>
        </p:nvSpPr>
        <p:spPr>
          <a:xfrm>
            <a:off x="795621" y="2274838"/>
            <a:ext cx="45226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Marco Elegido: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Scrum adaptado con tablero Kanban para un equipo de 2 integrantes.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Justificación Técnico-Disciplinar: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Permite entregas incrementales y validaciones continuas del software con la dueña del negocio, reduciendo el riesgo de desajustes en los requerimientos.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650B056-D7A1-0FBA-3F52-D91E6E399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339" y="4921215"/>
            <a:ext cx="3651255" cy="107780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B07B4AB-E907-AED2-0DAC-FDC111711454}"/>
              </a:ext>
            </a:extLst>
          </p:cNvPr>
          <p:cNvSpPr txBox="1"/>
          <p:nvPr/>
        </p:nvSpPr>
        <p:spPr>
          <a:xfrm>
            <a:off x="6356906" y="1582090"/>
            <a:ext cx="6385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División de Roles y Responsabilidades: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98BC446-AD6F-88CB-FAFC-569BD6B54348}"/>
              </a:ext>
            </a:extLst>
          </p:cNvPr>
          <p:cNvSpPr txBox="1"/>
          <p:nvPr/>
        </p:nvSpPr>
        <p:spPr>
          <a:xfrm>
            <a:off x="6640609" y="2274838"/>
            <a:ext cx="45226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Alyson Cuevas (Desarrollador Frontend &amp; UX/UI / Enlace de Requerimientos):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Diseño de interfaces responsivas, maquetación UI/UX de ambas vistas y comunicación directa con la cliente.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Pumas (Desarrollador Backend &amp; Base de Datos / QA Lead):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Modelamiento y normalización de la base de datos, desarrollo de lógica de negocio (APIs/Stock) y gestión del plan de pruebas.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3C5188B-D984-3FA5-F8D4-951579F43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094" y="5194927"/>
            <a:ext cx="1803021" cy="167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9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7AC61-C236-FAAF-9FE2-C70E1E1D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0AF1E-5C72-87E0-5DA6-B6321F23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2729" y="2725822"/>
            <a:ext cx="3603812" cy="1873072"/>
          </a:xfrm>
        </p:spPr>
        <p:txBody>
          <a:bodyPr>
            <a:normAutofit/>
          </a:bodyPr>
          <a:lstStyle/>
          <a:p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Trabajo y Cronograma </a:t>
            </a:r>
            <a:b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(13 Semanas) </a:t>
            </a:r>
            <a:endParaRPr lang="es-CL" sz="2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3F0167B-922F-7CB0-A4BF-3EF88445E0E2}"/>
              </a:ext>
            </a:extLst>
          </p:cNvPr>
          <p:cNvSpPr/>
          <p:nvPr/>
        </p:nvSpPr>
        <p:spPr>
          <a:xfrm>
            <a:off x="762000" y="2913529"/>
            <a:ext cx="493059" cy="995083"/>
          </a:xfrm>
          <a:prstGeom prst="rect">
            <a:avLst/>
          </a:prstGeom>
          <a:solidFill>
            <a:srgbClr val="4E7CDD"/>
          </a:solidFill>
          <a:ln>
            <a:solidFill>
              <a:srgbClr val="4E7C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CL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A1CB8-40DA-9E78-973D-C1D24680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279A2DD-D2BE-6019-452F-9B7CE2387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3146612" cy="173309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8229662-796D-0CD6-FE91-F2E88EF3C291}"/>
              </a:ext>
            </a:extLst>
          </p:cNvPr>
          <p:cNvSpPr txBox="1"/>
          <p:nvPr/>
        </p:nvSpPr>
        <p:spPr>
          <a:xfrm>
            <a:off x="0" y="2600866"/>
            <a:ext cx="1210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 Principal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5393468-D87E-EDD1-FF5E-9A2864BF099C}"/>
              </a:ext>
            </a:extLst>
          </p:cNvPr>
          <p:cNvSpPr txBox="1"/>
          <p:nvPr/>
        </p:nvSpPr>
        <p:spPr>
          <a:xfrm>
            <a:off x="-42872" y="3887259"/>
            <a:ext cx="1539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Recursos / Herramientas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EA15D81-984E-9CE8-EF2A-F317E7A9CF60}"/>
              </a:ext>
            </a:extLst>
          </p:cNvPr>
          <p:cNvSpPr txBox="1"/>
          <p:nvPr/>
        </p:nvSpPr>
        <p:spPr>
          <a:xfrm>
            <a:off x="1272989" y="1256041"/>
            <a:ext cx="1362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FASE 01</a:t>
            </a:r>
          </a:p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S1-S4</a:t>
            </a:r>
            <a:endParaRPr lang="es-CL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lecha: cheurón 19">
            <a:extLst>
              <a:ext uri="{FF2B5EF4-FFF2-40B4-BE49-F238E27FC236}">
                <a16:creationId xmlns:a16="http://schemas.microsoft.com/office/drawing/2014/main" id="{31278771-F7C2-DC6F-E7E8-C8EF3CD19960}"/>
              </a:ext>
            </a:extLst>
          </p:cNvPr>
          <p:cNvSpPr/>
          <p:nvPr/>
        </p:nvSpPr>
        <p:spPr>
          <a:xfrm>
            <a:off x="2761129" y="1400084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6FC7F8FF-2136-9700-78DB-987C5B50BC50}"/>
              </a:ext>
            </a:extLst>
          </p:cNvPr>
          <p:cNvCxnSpPr>
            <a:cxnSpLocks/>
          </p:cNvCxnSpPr>
          <p:nvPr/>
        </p:nvCxnSpPr>
        <p:spPr>
          <a:xfrm>
            <a:off x="1337984" y="2209160"/>
            <a:ext cx="15038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320BB8D-43EB-8607-532D-0DE929862613}"/>
              </a:ext>
            </a:extLst>
          </p:cNvPr>
          <p:cNvSpPr txBox="1"/>
          <p:nvPr/>
        </p:nvSpPr>
        <p:spPr>
          <a:xfrm>
            <a:off x="1255059" y="2249923"/>
            <a:ext cx="1891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Levantamiento de Requerimientos y Diseño de BD / Arquitectura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F0CBBE9-D1E6-65B3-154C-74F434563AC8}"/>
              </a:ext>
            </a:extLst>
          </p:cNvPr>
          <p:cNvSpPr txBox="1"/>
          <p:nvPr/>
        </p:nvSpPr>
        <p:spPr>
          <a:xfrm>
            <a:off x="3483905" y="1256041"/>
            <a:ext cx="1362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FASE 02</a:t>
            </a:r>
          </a:p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S5-S7</a:t>
            </a:r>
            <a:endParaRPr lang="es-CL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lecha: cheurón 29">
            <a:extLst>
              <a:ext uri="{FF2B5EF4-FFF2-40B4-BE49-F238E27FC236}">
                <a16:creationId xmlns:a16="http://schemas.microsoft.com/office/drawing/2014/main" id="{DCCC731F-4842-3555-7E9F-9795D75A1D85}"/>
              </a:ext>
            </a:extLst>
          </p:cNvPr>
          <p:cNvSpPr/>
          <p:nvPr/>
        </p:nvSpPr>
        <p:spPr>
          <a:xfrm>
            <a:off x="5052169" y="1413566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FCFB3EF-E149-D602-2B05-71DCC01CD357}"/>
              </a:ext>
            </a:extLst>
          </p:cNvPr>
          <p:cNvSpPr txBox="1"/>
          <p:nvPr/>
        </p:nvSpPr>
        <p:spPr>
          <a:xfrm>
            <a:off x="5496481" y="1248907"/>
            <a:ext cx="1362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FASE 02</a:t>
            </a:r>
          </a:p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S8-S10</a:t>
            </a:r>
            <a:endParaRPr lang="es-CL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Flecha: cheurón 33">
            <a:extLst>
              <a:ext uri="{FF2B5EF4-FFF2-40B4-BE49-F238E27FC236}">
                <a16:creationId xmlns:a16="http://schemas.microsoft.com/office/drawing/2014/main" id="{50423C76-84F7-7A34-7DDE-BE73C2D7E077}"/>
              </a:ext>
            </a:extLst>
          </p:cNvPr>
          <p:cNvSpPr/>
          <p:nvPr/>
        </p:nvSpPr>
        <p:spPr>
          <a:xfrm>
            <a:off x="7073149" y="1413566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0349C45-F467-F709-C6B9-BCD242987400}"/>
              </a:ext>
            </a:extLst>
          </p:cNvPr>
          <p:cNvSpPr txBox="1"/>
          <p:nvPr/>
        </p:nvSpPr>
        <p:spPr>
          <a:xfrm>
            <a:off x="7530359" y="1225552"/>
            <a:ext cx="1362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FASE 02</a:t>
            </a:r>
          </a:p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S11</a:t>
            </a:r>
            <a:endParaRPr lang="es-CL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Flecha: cheurón 37">
            <a:extLst>
              <a:ext uri="{FF2B5EF4-FFF2-40B4-BE49-F238E27FC236}">
                <a16:creationId xmlns:a16="http://schemas.microsoft.com/office/drawing/2014/main" id="{867CA76B-F8ED-1CB4-4B1E-86518E04E16A}"/>
              </a:ext>
            </a:extLst>
          </p:cNvPr>
          <p:cNvSpPr/>
          <p:nvPr/>
        </p:nvSpPr>
        <p:spPr>
          <a:xfrm>
            <a:off x="9090212" y="1413567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BDB944A-03D5-478E-41F4-7726FB296A19}"/>
              </a:ext>
            </a:extLst>
          </p:cNvPr>
          <p:cNvSpPr txBox="1"/>
          <p:nvPr/>
        </p:nvSpPr>
        <p:spPr>
          <a:xfrm>
            <a:off x="9628089" y="1257023"/>
            <a:ext cx="1362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FASE 03</a:t>
            </a:r>
          </a:p>
          <a:p>
            <a:r>
              <a:rPr lang="es-MX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S12-S13</a:t>
            </a:r>
            <a:endParaRPr lang="es-CL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093ED9F-F170-68BE-2B75-0C2C2281157E}"/>
              </a:ext>
            </a:extLst>
          </p:cNvPr>
          <p:cNvCxnSpPr>
            <a:cxnSpLocks/>
          </p:cNvCxnSpPr>
          <p:nvPr/>
        </p:nvCxnSpPr>
        <p:spPr>
          <a:xfrm>
            <a:off x="9711019" y="2196662"/>
            <a:ext cx="15038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223ED49F-057A-03A5-C399-212176E38C56}"/>
              </a:ext>
            </a:extLst>
          </p:cNvPr>
          <p:cNvCxnSpPr>
            <a:cxnSpLocks/>
          </p:cNvCxnSpPr>
          <p:nvPr/>
        </p:nvCxnSpPr>
        <p:spPr>
          <a:xfrm>
            <a:off x="7667066" y="2215300"/>
            <a:ext cx="15038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2F2216D3-345E-C371-2B9B-636D6E1FBF0C}"/>
              </a:ext>
            </a:extLst>
          </p:cNvPr>
          <p:cNvCxnSpPr>
            <a:cxnSpLocks/>
          </p:cNvCxnSpPr>
          <p:nvPr/>
        </p:nvCxnSpPr>
        <p:spPr>
          <a:xfrm>
            <a:off x="5569322" y="2212378"/>
            <a:ext cx="15038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4DD9D501-EAAC-D9AE-FA33-C52B37ADAAC0}"/>
              </a:ext>
            </a:extLst>
          </p:cNvPr>
          <p:cNvCxnSpPr>
            <a:cxnSpLocks/>
          </p:cNvCxnSpPr>
          <p:nvPr/>
        </p:nvCxnSpPr>
        <p:spPr>
          <a:xfrm>
            <a:off x="3548342" y="2209469"/>
            <a:ext cx="15038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2ADC527-CC5D-A2D7-72A7-97B26C82585B}"/>
              </a:ext>
            </a:extLst>
          </p:cNvPr>
          <p:cNvSpPr txBox="1"/>
          <p:nvPr/>
        </p:nvSpPr>
        <p:spPr>
          <a:xfrm>
            <a:off x="1348624" y="3794924"/>
            <a:ext cx="1759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Figma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dbdiagram.io, </a:t>
            </a:r>
            <a:r>
              <a:rPr lang="es-C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VSCode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059C9FC-2372-D44D-37F9-847E0BB07D4E}"/>
              </a:ext>
            </a:extLst>
          </p:cNvPr>
          <p:cNvSpPr txBox="1"/>
          <p:nvPr/>
        </p:nvSpPr>
        <p:spPr>
          <a:xfrm>
            <a:off x="3418355" y="2228671"/>
            <a:ext cx="1891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/>
              <a:t>Desarrollo Módulo Cliente (Catálogo y Carrito) 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A3616A9-E0A3-B014-60F6-CD39C07F4B44}"/>
              </a:ext>
            </a:extLst>
          </p:cNvPr>
          <p:cNvSpPr txBox="1"/>
          <p:nvPr/>
        </p:nvSpPr>
        <p:spPr>
          <a:xfrm>
            <a:off x="3344417" y="3889206"/>
            <a:ext cx="1801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Framework JS, HTML5/CSS3 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2611886-3D9D-1EBF-9C46-777E4CD09B9C}"/>
              </a:ext>
            </a:extLst>
          </p:cNvPr>
          <p:cNvSpPr txBox="1"/>
          <p:nvPr/>
        </p:nvSpPr>
        <p:spPr>
          <a:xfrm>
            <a:off x="5496481" y="2249922"/>
            <a:ext cx="1891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Desarrollo Módulo </a:t>
            </a:r>
            <a:r>
              <a:rPr lang="es-CL" dirty="0" err="1"/>
              <a:t>Admin</a:t>
            </a:r>
            <a:r>
              <a:rPr lang="es-CL" dirty="0"/>
              <a:t> &amp; Lógica de Stock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C091639-BA83-E906-91C5-C67F5FE5292E}"/>
              </a:ext>
            </a:extLst>
          </p:cNvPr>
          <p:cNvSpPr txBox="1"/>
          <p:nvPr/>
        </p:nvSpPr>
        <p:spPr>
          <a:xfrm>
            <a:off x="5392828" y="3887259"/>
            <a:ext cx="1801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Node.js/Python, MySQL/PostgreSQL 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8E3C83D-E53C-1C9D-D6B5-C688AEA4CE28}"/>
              </a:ext>
            </a:extLst>
          </p:cNvPr>
          <p:cNvSpPr txBox="1"/>
          <p:nvPr/>
        </p:nvSpPr>
        <p:spPr>
          <a:xfrm>
            <a:off x="7548284" y="2228965"/>
            <a:ext cx="1882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Pruebas de Integración y Ajustes de Usabilidad 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F5A6E60-4013-8972-3B19-98510BC2EA1D}"/>
              </a:ext>
            </a:extLst>
          </p:cNvPr>
          <p:cNvSpPr txBox="1"/>
          <p:nvPr/>
        </p:nvSpPr>
        <p:spPr>
          <a:xfrm>
            <a:off x="9644335" y="2249922"/>
            <a:ext cx="1891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Despliegue en Servidor Web, Manuales y Defensa Final 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AEA1841-20C9-9AAC-18E1-211EEC52EDCB}"/>
              </a:ext>
            </a:extLst>
          </p:cNvPr>
          <p:cNvSpPr txBox="1"/>
          <p:nvPr/>
        </p:nvSpPr>
        <p:spPr>
          <a:xfrm>
            <a:off x="7518580" y="3887259"/>
            <a:ext cx="196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Postman, Entorno Localhost/</a:t>
            </a:r>
            <a:r>
              <a:rPr lang="es-CL" dirty="0" err="1"/>
              <a:t>Staging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F070A550-FE55-D26A-A202-F3AB579CC3C7}"/>
              </a:ext>
            </a:extLst>
          </p:cNvPr>
          <p:cNvSpPr txBox="1"/>
          <p:nvPr/>
        </p:nvSpPr>
        <p:spPr>
          <a:xfrm>
            <a:off x="9644335" y="3887259"/>
            <a:ext cx="1801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Render, GitHub, SSL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62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25E3-6F66-9C6A-D896-FE7C2E57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7E52D-BF76-82CD-1069-1175417A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1" y="2545976"/>
            <a:ext cx="3603812" cy="2115671"/>
          </a:xfrm>
        </p:spPr>
        <p:txBody>
          <a:bodyPr>
            <a:normAutofit/>
          </a:bodyPr>
          <a:lstStyle/>
          <a:p>
            <a:r>
              <a:rPr lang="es-CL" sz="2800" dirty="0"/>
              <a:t>Matriz de Factibilidad y Gestión de Riesgos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FD7DAB-A5E1-492D-BA2F-0A55677F0AE5}"/>
              </a:ext>
            </a:extLst>
          </p:cNvPr>
          <p:cNvSpPr/>
          <p:nvPr/>
        </p:nvSpPr>
        <p:spPr>
          <a:xfrm>
            <a:off x="762000" y="2913529"/>
            <a:ext cx="493059" cy="995083"/>
          </a:xfrm>
          <a:prstGeom prst="rect">
            <a:avLst/>
          </a:prstGeom>
          <a:solidFill>
            <a:srgbClr val="4E7CDD"/>
          </a:solidFill>
          <a:ln>
            <a:solidFill>
              <a:srgbClr val="4E7C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s-CL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735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9737-ECEE-D385-B53D-667ABB62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EB115E8-85C0-CAE4-45B8-C56E8F5A9323}"/>
              </a:ext>
            </a:extLst>
          </p:cNvPr>
          <p:cNvSpPr txBox="1"/>
          <p:nvPr/>
        </p:nvSpPr>
        <p:spPr>
          <a:xfrm>
            <a:off x="1544918" y="3806685"/>
            <a:ext cx="66846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Argumentos de Factibilidad:</a:t>
            </a:r>
            <a:endParaRPr lang="es-MX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Planificación ajustada estrictamente a un marco de 13 semanas académicas.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Recursos: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Uso de licencias open-</a:t>
            </a:r>
            <a:r>
              <a:rPr lang="es-C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herramientas </a:t>
            </a:r>
            <a:r>
              <a:rPr lang="es-C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capa gratuita (Render, GitHub).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Facilitadores: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Acceso directo a la cliente para realizar pruebas y toma de requerimientos de forma ágil.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7F275BD-7303-EE42-C31D-7B2EAF4E0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945304"/>
              </p:ext>
            </p:extLst>
          </p:nvPr>
        </p:nvGraphicFramePr>
        <p:xfrm>
          <a:off x="1544917" y="795507"/>
          <a:ext cx="9102165" cy="2839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94001">
                  <a:extLst>
                    <a:ext uri="{9D8B030D-6E8A-4147-A177-3AD203B41FA5}">
                      <a16:colId xmlns:a16="http://schemas.microsoft.com/office/drawing/2014/main" val="1801559692"/>
                    </a:ext>
                  </a:extLst>
                </a:gridCol>
                <a:gridCol w="1640541">
                  <a:extLst>
                    <a:ext uri="{9D8B030D-6E8A-4147-A177-3AD203B41FA5}">
                      <a16:colId xmlns:a16="http://schemas.microsoft.com/office/drawing/2014/main" val="2512203040"/>
                    </a:ext>
                  </a:extLst>
                </a:gridCol>
                <a:gridCol w="4667623">
                  <a:extLst>
                    <a:ext uri="{9D8B030D-6E8A-4147-A177-3AD203B41FA5}">
                      <a16:colId xmlns:a16="http://schemas.microsoft.com/office/drawing/2014/main" val="3110362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Riesgo Técnico / Operativo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Plan de Mitigación / Acción</a:t>
                      </a:r>
                      <a:endParaRPr lang="es-CL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71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Poca disponibilidad de la cliente por jornada labora</a:t>
                      </a:r>
                      <a:endParaRPr lang="es-CL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Entrevistas breves y validación de prototipos asíncrona mediante </a:t>
                      </a:r>
                      <a:r>
                        <a:rPr lang="es-CL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Figma</a:t>
                      </a:r>
                      <a:r>
                        <a:rPr lang="es-CL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609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Cambios o nuevos requerimientos durante el desarrollo</a:t>
                      </a:r>
                      <a:endParaRPr lang="es-CL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Alto</a:t>
                      </a:r>
                      <a:endParaRPr lang="es-CL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dirty="0"/>
                        <a:t>Congelamiento de alcance (Scope Freeze) tras aprobar el MVP en la Semana 4.</a:t>
                      </a:r>
                      <a:endParaRPr lang="es-CL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25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L" dirty="0"/>
                        <a:t>Complejidad en la actualización del stock en tiempo real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Medio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dirty="0"/>
                        <a:t>Implementación de transacciones atomizadas en la base de datos.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8384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D3E3C959-93CF-85AB-2A3A-7A6AE7A7C6C2}"/>
              </a:ext>
            </a:extLst>
          </p:cNvPr>
          <p:cNvSpPr txBox="1"/>
          <p:nvPr/>
        </p:nvSpPr>
        <p:spPr>
          <a:xfrm>
            <a:off x="1544917" y="200934"/>
            <a:ext cx="4975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Matriz de Riesgos y Mitigaciones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E975025-881E-F428-CF65-253403DE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01" y="3706581"/>
            <a:ext cx="3736299" cy="315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46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B3E31-5BD0-02EE-C0F3-9BF2A3A5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F0E5A-72F9-04C7-D1FB-B1DD0AA0D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165" y="2483223"/>
            <a:ext cx="3451411" cy="2277035"/>
          </a:xfrm>
        </p:spPr>
        <p:txBody>
          <a:bodyPr>
            <a:noAutofit/>
          </a:bodyPr>
          <a:lstStyle/>
          <a:p>
            <a:pPr algn="ctr"/>
            <a:r>
              <a:rPr lang="es-CL" sz="2800" dirty="0"/>
              <a:t>Plan de Evidencias e Indicadores de Calidad Disciplinar 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F0BEBE-2587-049F-994E-460692C01985}"/>
              </a:ext>
            </a:extLst>
          </p:cNvPr>
          <p:cNvSpPr/>
          <p:nvPr/>
        </p:nvSpPr>
        <p:spPr>
          <a:xfrm>
            <a:off x="735106" y="2931458"/>
            <a:ext cx="582706" cy="995083"/>
          </a:xfrm>
          <a:prstGeom prst="rect">
            <a:avLst/>
          </a:prstGeom>
          <a:solidFill>
            <a:srgbClr val="4E7CDD"/>
          </a:solidFill>
          <a:ln>
            <a:solidFill>
              <a:srgbClr val="4E7C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s-CL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676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7D4F6-7A2B-B0B0-6618-C0E5A341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FF3BF2B8-92D5-3CCD-D6F6-416E6FD5DCA7}"/>
              </a:ext>
            </a:extLst>
          </p:cNvPr>
          <p:cNvSpPr txBox="1"/>
          <p:nvPr/>
        </p:nvSpPr>
        <p:spPr>
          <a:xfrm>
            <a:off x="4849905" y="1112752"/>
            <a:ext cx="478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Plan de Evidencias Tangibles: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2D90412-2145-BF48-D401-44FD072E8AB8}"/>
              </a:ext>
            </a:extLst>
          </p:cNvPr>
          <p:cNvSpPr txBox="1"/>
          <p:nvPr/>
        </p:nvSpPr>
        <p:spPr>
          <a:xfrm>
            <a:off x="4881281" y="1792515"/>
            <a:ext cx="6853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Avance 1 (Fase 1):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Especificación de requerimientos, diagramas UML/ERD y prototipos UI en </a:t>
            </a:r>
            <a:r>
              <a:rPr lang="es-C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Figma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Avance 2 (Fase 2):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Repositorio en GitHub con el código fuente del MVP funcional (Frontend e integración con BD).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 Final (Fase 3):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Aplicación web desplegada en servidor en la nube con certificado SSL y Manual de Usuario.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67FC4C-1F1F-3301-23C0-6E279281E8B9}"/>
              </a:ext>
            </a:extLst>
          </p:cNvPr>
          <p:cNvSpPr txBox="1"/>
          <p:nvPr/>
        </p:nvSpPr>
        <p:spPr>
          <a:xfrm>
            <a:off x="271170" y="546747"/>
            <a:ext cx="4177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Indicadores de Calidad Disciplinares (Ingeniería de Software):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EE3B8F-A472-AAEB-439B-88CBAC9B3A10}"/>
              </a:ext>
            </a:extLst>
          </p:cNvPr>
          <p:cNvSpPr/>
          <p:nvPr/>
        </p:nvSpPr>
        <p:spPr>
          <a:xfrm>
            <a:off x="672346" y="900692"/>
            <a:ext cx="912159" cy="5056615"/>
          </a:xfrm>
          <a:prstGeom prst="rect">
            <a:avLst/>
          </a:prstGeom>
          <a:solidFill>
            <a:srgbClr val="4E7CDD"/>
          </a:solidFill>
          <a:ln>
            <a:solidFill>
              <a:srgbClr val="4E7C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D1E162-5ABB-D28D-9DF9-29F3B6674EFF}"/>
              </a:ext>
            </a:extLst>
          </p:cNvPr>
          <p:cNvSpPr txBox="1"/>
          <p:nvPr/>
        </p:nvSpPr>
        <p:spPr>
          <a:xfrm>
            <a:off x="718284" y="1859338"/>
            <a:ext cx="39075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Modelos de Datos (IL 3.1 / 3.2):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 de datos relacional normalizada y escalable.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e Integración (IL 4.1 / 4.2):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Arquitectura web modular con bajo acoplamiento entre interfaz y servidor.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Pruebas de Certificación (IL 1.1 / 1.2):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Aplicación de pruebas unitarias y pruebas de aceptación de usuario (UAT).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22F4F0-5899-5C42-7C1C-F4E40EFF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129" y="3703384"/>
            <a:ext cx="4096871" cy="307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75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66C5-71F4-1A9D-148A-1F4B01DCD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20F5780-1CC1-59CA-A453-C805C90899E1}"/>
              </a:ext>
            </a:extLst>
          </p:cNvPr>
          <p:cNvSpPr/>
          <p:nvPr/>
        </p:nvSpPr>
        <p:spPr>
          <a:xfrm>
            <a:off x="0" y="283045"/>
            <a:ext cx="8677835" cy="3404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9FAAFBF-A7E2-2889-4395-A48EF13FB5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4333" y="48203"/>
            <a:ext cx="8076938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CL" dirty="0"/>
              <a:t>Conclusiones y Reflexiones Individuales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0D4B41-EBD1-9570-470A-6B15E80A84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027" y="1115990"/>
            <a:ext cx="11674419" cy="264918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CL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Puma - Desarrollador Backend &amp; BD: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CL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Conclusión:</a:t>
            </a:r>
            <a:r>
              <a:rPr lang="es-CL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articulación de la base de datos con la lógica del negocio garantiza la resolución del problema real de stock en la pyme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CL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Reflexión:</a:t>
            </a:r>
            <a:r>
              <a:rPr lang="es-CL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Esta fase ha permitido dimensionar la importancia del diseño técnico estricto antes de codificar, asegurando la viabilidad dentro de las 13 semanas.</a:t>
            </a:r>
          </a:p>
          <a:p>
            <a:pPr marL="0" indent="0" algn="just">
              <a:buNone/>
            </a:pPr>
            <a:r>
              <a:rPr lang="es-CL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Alyson Cuevas - Desarrollador Frontend &amp; UX/UI: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CL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Conclusión:</a:t>
            </a:r>
            <a:r>
              <a:rPr lang="es-CL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 diseño centrado en el usuario (UX) resulta determinante para que una pyme pueda adoptar software sin fricciones.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CL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Reflexión:</a:t>
            </a:r>
            <a:r>
              <a:rPr lang="es-CL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Trabajar con una contraparte real fortalece la capacidad de traducir necesidades comerciales en interfaces claras y funcionales.</a:t>
            </a:r>
          </a:p>
          <a:p>
            <a:pPr marL="0" indent="0" algn="just">
              <a:buNone/>
            </a:pPr>
            <a:endParaRPr lang="es-C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8B2150-F8DD-334B-6DDB-04C4F952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318" y="3738445"/>
            <a:ext cx="3890682" cy="311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CA14C5-BB8F-79D7-A541-4EDE3C3F4920}"/>
              </a:ext>
            </a:extLst>
          </p:cNvPr>
          <p:cNvSpPr txBox="1"/>
          <p:nvPr/>
        </p:nvSpPr>
        <p:spPr>
          <a:xfrm>
            <a:off x="3933262" y="1290918"/>
            <a:ext cx="4325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¡MUCHAS GRACIAS!</a:t>
            </a:r>
            <a:endParaRPr lang="es-CL" sz="4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84C7CB-D836-3B4B-33CC-43093503B6A6}"/>
              </a:ext>
            </a:extLst>
          </p:cNvPr>
          <p:cNvSpPr txBox="1"/>
          <p:nvPr/>
        </p:nvSpPr>
        <p:spPr>
          <a:xfrm>
            <a:off x="3941402" y="3998259"/>
            <a:ext cx="43091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¡POR LA ATENCIÓN!</a:t>
            </a:r>
          </a:p>
        </p:txBody>
      </p:sp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969135-7855-44e0-a9fe-01d799f07605">
      <UserInfo>
        <DisplayName>Patricio alejandro Yanez Ahumada</DisplayName>
        <AccountId>12</AccountId>
        <AccountType/>
      </UserInfo>
      <UserInfo>
        <DisplayName>Victoria Acevedo D</DisplayName>
        <AccountId>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28BDBD65D93F4BA99B6439AFEA320E" ma:contentTypeVersion="10" ma:contentTypeDescription="Crear nuevo documento." ma:contentTypeScope="" ma:versionID="11d45d99e0339591c68aad091688ac92">
  <xsd:schema xmlns:xsd="http://www.w3.org/2001/XMLSchema" xmlns:xs="http://www.w3.org/2001/XMLSchema" xmlns:p="http://schemas.microsoft.com/office/2006/metadata/properties" xmlns:ns2="9b0ef35d-78e7-41bf-847f-3c0497ad5352" xmlns:ns3="3c969135-7855-44e0-a9fe-01d799f07605" targetNamespace="http://schemas.microsoft.com/office/2006/metadata/properties" ma:root="true" ma:fieldsID="0e603a3f7bf67670d682b80385fe4b00" ns2:_="" ns3:_="">
    <xsd:import namespace="9b0ef35d-78e7-41bf-847f-3c0497ad5352"/>
    <xsd:import namespace="3c969135-7855-44e0-a9fe-01d799f07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ef35d-78e7-41bf-847f-3c0497ad5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9135-7855-44e0-a9fe-01d799f07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58CA3E-C0DA-46ED-9440-7D10196C7762}">
  <ds:schemaRefs>
    <ds:schemaRef ds:uri="http://schemas.microsoft.com/office/2006/metadata/properties"/>
    <ds:schemaRef ds:uri="http://schemas.microsoft.com/office/infopath/2007/PartnerControls"/>
    <ds:schemaRef ds:uri="3c969135-7855-44e0-a9fe-01d799f07605"/>
  </ds:schemaRefs>
</ds:datastoreItem>
</file>

<file path=customXml/itemProps2.xml><?xml version="1.0" encoding="utf-8"?>
<ds:datastoreItem xmlns:ds="http://schemas.openxmlformats.org/officeDocument/2006/customXml" ds:itemID="{CB4635AD-4573-49F2-BAD3-1FD3B2C9C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ef35d-78e7-41bf-847f-3c0497ad5352"/>
    <ds:schemaRef ds:uri="3c969135-7855-44e0-a9fe-01d799f07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871</TotalTime>
  <Words>1205</Words>
  <Application>Microsoft Office PowerPoint</Application>
  <PresentationFormat>Panorámica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Wingdings</vt:lpstr>
      <vt:lpstr>Tema de Office</vt:lpstr>
      <vt:lpstr>CAPSTONE Etapa 1</vt:lpstr>
      <vt:lpstr>Presentación de PowerPoint</vt:lpstr>
      <vt:lpstr>Problema de Negocio y Relevancia Laboral</vt:lpstr>
      <vt:lpstr>Presentación de PowerPoint</vt:lpstr>
      <vt:lpstr>Alineación con Perfil de Egreso e Intereses Profesionales</vt:lpstr>
      <vt:lpstr>Presentación de PowerPoint</vt:lpstr>
      <vt:lpstr>Objetivos General y Específicos</vt:lpstr>
      <vt:lpstr>Presentación de PowerPoint</vt:lpstr>
      <vt:lpstr>Metodología de Trabajo: Ágil (Scrum / Kanban) </vt:lpstr>
      <vt:lpstr>Presentación de PowerPoint</vt:lpstr>
      <vt:lpstr>Plan de Trabajo y Cronograma  (13 Semanas) </vt:lpstr>
      <vt:lpstr>Presentación de PowerPoint</vt:lpstr>
      <vt:lpstr>Matriz de Factibilidad y Gestión de Riesgos</vt:lpstr>
      <vt:lpstr>Presentación de PowerPoint</vt:lpstr>
      <vt:lpstr>Plan de Evidencias e Indicadores de Calidad Disciplinar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Alyson Cuevas</cp:lastModifiedBy>
  <cp:revision>17</cp:revision>
  <dcterms:created xsi:type="dcterms:W3CDTF">2024-03-07T18:55:37Z</dcterms:created>
  <dcterms:modified xsi:type="dcterms:W3CDTF">2026-09-03T08:21:37Z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