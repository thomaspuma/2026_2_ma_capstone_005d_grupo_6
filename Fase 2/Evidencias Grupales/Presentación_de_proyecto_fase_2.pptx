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72" r:id="rId5"/>
    <p:sldId id="259" r:id="rId6"/>
    <p:sldId id="263" r:id="rId7"/>
    <p:sldId id="273" r:id="rId8"/>
    <p:sldId id="281" r:id="rId9"/>
    <p:sldId id="264" r:id="rId10"/>
    <p:sldId id="262" r:id="rId11"/>
    <p:sldId id="260" r:id="rId12"/>
    <p:sldId id="271" r:id="rId13"/>
    <p:sldId id="267" r:id="rId14"/>
    <p:sldId id="275" r:id="rId15"/>
    <p:sldId id="274" r:id="rId16"/>
    <p:sldId id="283" r:id="rId17"/>
    <p:sldId id="284" r:id="rId18"/>
    <p:sldId id="276" r:id="rId19"/>
    <p:sldId id="282" r:id="rId20"/>
    <p:sldId id="279" r:id="rId21"/>
    <p:sldId id="278" r:id="rId22"/>
    <p:sldId id="261" r:id="rId23"/>
  </p:sldIdLst>
  <p:sldSz cx="12192000" cy="6858000"/>
  <p:notesSz cx="6858000" cy="9144000"/>
  <p:defaultTextStyle>
    <a:defPPr>
      <a:defRPr lang="es-CL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7CDD"/>
    <a:srgbClr val="EE7623"/>
    <a:srgbClr val="BB0034"/>
    <a:srgbClr val="9B50C0"/>
    <a:srgbClr val="F9B7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3"/>
    <p:restoredTop sz="95615"/>
  </p:normalViewPr>
  <p:slideViewPr>
    <p:cSldViewPr snapToGrid="0">
      <p:cViewPr varScale="1">
        <p:scale>
          <a:sx n="85" d="100"/>
          <a:sy n="85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incip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057CAB5-419B-D16F-C185-A2D3C653D2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859053" y="1796807"/>
            <a:ext cx="70965" cy="326438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A07B88F-3442-88EF-4332-8188DAED77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350248-3FB5-3C6F-8D72-BDEA02FE930A}"/>
              </a:ext>
            </a:extLst>
          </p:cNvPr>
          <p:cNvSpPr/>
          <p:nvPr userDrawn="1"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F0FCBE2-3DBD-0281-D2F5-F0C94CE8BC2D}"/>
              </a:ext>
            </a:extLst>
          </p:cNvPr>
          <p:cNvCxnSpPr>
            <a:cxnSpLocks/>
          </p:cNvCxnSpPr>
          <p:nvPr userDrawn="1"/>
        </p:nvCxnSpPr>
        <p:spPr>
          <a:xfrm>
            <a:off x="6996223" y="4106486"/>
            <a:ext cx="411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título 1">
            <a:extLst>
              <a:ext uri="{FF2B5EF4-FFF2-40B4-BE49-F238E27FC236}">
                <a16:creationId xmlns:a16="http://schemas.microsoft.com/office/drawing/2014/main" id="{F586EB83-3340-7C71-15A1-A44304B300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3F9325FC-E030-BCB8-203E-374A8BE898B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2E45F7-DBA7-0067-88AC-2B33C1A8CB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68812" y="1206961"/>
            <a:ext cx="3375906" cy="54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2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01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355760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02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239545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03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1558819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/>
              <a:t>04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78776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6">
            <a:extLst>
              <a:ext uri="{FF2B5EF4-FFF2-40B4-BE49-F238E27FC236}">
                <a16:creationId xmlns:a16="http://schemas.microsoft.com/office/drawing/2014/main" id="{3387B960-FFF9-CB57-ACA9-C9E1213259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685" y="551041"/>
            <a:ext cx="4916775" cy="469685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149A11D1-EAA1-0BB7-CFE5-9056CB346D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715" y="1137571"/>
            <a:ext cx="4930746" cy="553006"/>
          </a:xfrm>
        </p:spPr>
        <p:txBody>
          <a:bodyPr>
            <a:norm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BF3825-8CDE-15D1-473C-F04253CD9789}"/>
              </a:ext>
            </a:extLst>
          </p:cNvPr>
          <p:cNvSpPr/>
          <p:nvPr userDrawn="1"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BF54666-A2EC-90FE-7052-73357A52AE9A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9" name="object 2">
              <a:extLst>
                <a:ext uri="{FF2B5EF4-FFF2-40B4-BE49-F238E27FC236}">
                  <a16:creationId xmlns:a16="http://schemas.microsoft.com/office/drawing/2014/main" id="{371A0572-EF4B-CA79-4539-AA0A2E4CD96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1BA993DD-B802-B0F6-BB6C-691D8C644DF2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object 4">
              <a:extLst>
                <a:ext uri="{FF2B5EF4-FFF2-40B4-BE49-F238E27FC236}">
                  <a16:creationId xmlns:a16="http://schemas.microsoft.com/office/drawing/2014/main" id="{C3421982-2587-852B-E105-195C0E7D9D9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7422255E-C44F-6988-4785-AAC71FA19F3B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6">
                <a:extLst>
                  <a:ext uri="{FF2B5EF4-FFF2-40B4-BE49-F238E27FC236}">
                    <a16:creationId xmlns:a16="http://schemas.microsoft.com/office/drawing/2014/main" id="{C9735AE4-9BC0-BA7F-18A3-3B4538726A97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B8A2F42-00CA-3BF5-D8D0-4B68FE7E88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2714468" y="4342374"/>
            <a:ext cx="119408" cy="423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2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9D0323-C2ED-C0E8-73FE-BEAB8CFEAEB8}"/>
              </a:ext>
            </a:extLst>
          </p:cNvPr>
          <p:cNvSpPr/>
          <p:nvPr userDrawn="1"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3A500616-0E5D-9D67-2AD4-83DFD6FEB7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 flipV="1">
            <a:off x="10929134" y="3487483"/>
            <a:ext cx="2392160" cy="133572"/>
          </a:xfrm>
          <a:prstGeom prst="rect">
            <a:avLst/>
          </a:prstGeom>
        </p:spPr>
      </p:pic>
      <p:sp>
        <p:nvSpPr>
          <p:cNvPr id="15" name="Marcador de título 1">
            <a:extLst>
              <a:ext uri="{FF2B5EF4-FFF2-40B4-BE49-F238E27FC236}">
                <a16:creationId xmlns:a16="http://schemas.microsoft.com/office/drawing/2014/main" id="{F57429FB-BAB3-46DE-9370-D3C110C6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F8D0BB2-7009-A53E-830B-0224847CA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 dirty="0"/>
              <a:t>Haz clic para modificar bajada</a:t>
            </a:r>
            <a:endParaRPr lang="es-CL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0600BA2-FE25-D617-556A-284E126C452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7" name="object 2">
              <a:extLst>
                <a:ext uri="{FF2B5EF4-FFF2-40B4-BE49-F238E27FC236}">
                  <a16:creationId xmlns:a16="http://schemas.microsoft.com/office/drawing/2014/main" id="{214DF2C4-F04D-3C80-781C-59FD036C679C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6664B434-EC06-B2A1-112A-CFBBD91843D1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7" name="object 4">
              <a:extLst>
                <a:ext uri="{FF2B5EF4-FFF2-40B4-BE49-F238E27FC236}">
                  <a16:creationId xmlns:a16="http://schemas.microsoft.com/office/drawing/2014/main" id="{78BE0504-3454-CB76-4D2B-96730BFC194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E08B512B-19D5-31EE-38BB-ECE0FD6B8C78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2816031D-2FBD-6D3D-C3AA-EDAC01B1B7B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9C188DE4-1C8A-750A-9834-317895F22B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0414" y="1315256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69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FD1A2D-962B-1B2F-8EFE-116133732487}"/>
              </a:ext>
            </a:extLst>
          </p:cNvPr>
          <p:cNvSpPr/>
          <p:nvPr userDrawn="1"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sp>
        <p:nvSpPr>
          <p:cNvPr id="7" name="Marcador de texto 26">
            <a:extLst>
              <a:ext uri="{FF2B5EF4-FFF2-40B4-BE49-F238E27FC236}">
                <a16:creationId xmlns:a16="http://schemas.microsoft.com/office/drawing/2014/main" id="{FC12E6C9-B6C7-FBEC-A203-87F5181A30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10853" y="405838"/>
            <a:ext cx="4916775" cy="469685"/>
          </a:xfrm>
        </p:spPr>
        <p:txBody>
          <a:bodyPr>
            <a:noAutofit/>
          </a:bodyPr>
          <a:lstStyle>
            <a:lvl1pPr marL="0" indent="0" algn="r">
              <a:buNone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1CE8A453-8074-39A1-48E5-2C3C6BECA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0853" y="976146"/>
            <a:ext cx="4930746" cy="281800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0D8A9F2-7C34-CC0C-4A65-766C6591434E}"/>
              </a:ext>
            </a:extLst>
          </p:cNvPr>
          <p:cNvSpPr/>
          <p:nvPr userDrawn="1"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27846E3-6C01-4C3F-2624-7CD8517C984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F0FF35D2-A2FC-35AC-0158-8D26446D585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D52EE463-507D-0E89-A698-37B26D93221E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" name="object 4">
              <a:extLst>
                <a:ext uri="{FF2B5EF4-FFF2-40B4-BE49-F238E27FC236}">
                  <a16:creationId xmlns:a16="http://schemas.microsoft.com/office/drawing/2014/main" id="{6C83F359-2517-926A-B7D0-D64B0F83FC19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21FEE031-C875-38D1-5382-9E6E11778AA5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08F0296E-9087-FDE0-9CBF-6E89FE8D412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533ECC16-DB92-D7AB-25D1-63F1F6931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592" y="2244940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0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P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5D537A3-771A-B373-471B-2113C671CFB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F91E6D1-21AD-8149-634F-39874CDDB05F}"/>
              </a:ext>
            </a:extLst>
          </p:cNvPr>
          <p:cNvGrpSpPr/>
          <p:nvPr userDrawn="1"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C7F6159-27FC-D37D-6948-67F8EE366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051E8F7-021B-497B-A676-8142240D8E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</p:spPr>
        </p:pic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A44E097-D359-D78B-4054-E34A9D1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97179" y="2291644"/>
            <a:ext cx="3997641" cy="12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9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78C4651-2B5D-EA62-AC04-17BFDE1E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94B6F9-D351-5B1B-2766-68737957A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L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B60EAB-2F87-323A-DB12-7A3211AAE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4031C-1D81-E945-A028-78780D1B7DE5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1700A7-BE34-6E4B-B14E-9AFE52C9C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9A16B8-55E4-4139-4DE1-4DF901B44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EC0DC-B55F-A543-ADED-336BFEE3FC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302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5" r:id="rId5"/>
    <p:sldLayoutId id="2147483650" r:id="rId6"/>
    <p:sldLayoutId id="2147483651" r:id="rId7"/>
    <p:sldLayoutId id="2147483653" r:id="rId8"/>
    <p:sldLayoutId id="2147483652" r:id="rId9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DA3FC-36B2-5E48-53A8-51083BBE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CAPSTONE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Fase 2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6A4ADCE-37ED-75E7-798D-6D9D91BE7AB1}"/>
              </a:ext>
            </a:extLst>
          </p:cNvPr>
          <p:cNvSpPr/>
          <p:nvPr/>
        </p:nvSpPr>
        <p:spPr>
          <a:xfrm>
            <a:off x="143435" y="5773271"/>
            <a:ext cx="4894729" cy="896471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3630800-FD0E-9385-765C-F4771516FAC4}"/>
              </a:ext>
            </a:extLst>
          </p:cNvPr>
          <p:cNvSpPr txBox="1"/>
          <p:nvPr/>
        </p:nvSpPr>
        <p:spPr>
          <a:xfrm>
            <a:off x="143436" y="5746412"/>
            <a:ext cx="4894728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Asignatura: </a:t>
            </a:r>
            <a:r>
              <a:rPr lang="es-CL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(PT4614 </a:t>
            </a:r>
            <a:r>
              <a:rPr lang="es-CL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Capstone</a:t>
            </a:r>
            <a:r>
              <a:rPr lang="es-CL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Sección 005D)</a:t>
            </a:r>
            <a:endParaRPr lang="es-MX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Docente:</a:t>
            </a:r>
            <a:r>
              <a:rPr lang="es-CL" dirty="0">
                <a:solidFill>
                  <a:schemeClr val="bg1"/>
                </a:solidFill>
              </a:rPr>
              <a:t>Fabián Alejandro Álvarez Montenegro</a:t>
            </a:r>
          </a:p>
          <a:p>
            <a:pPr>
              <a:lnSpc>
                <a:spcPct val="150000"/>
              </a:lnSpc>
            </a:pPr>
            <a:endParaRPr lang="es-CL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C79772-4F2B-0631-AEB4-ED8B1376406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775597"/>
          </a:xfrm>
        </p:spPr>
        <p:txBody>
          <a:bodyPr/>
          <a:lstStyle/>
          <a:p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Proyecto Digitalización “</a:t>
            </a:r>
            <a:r>
              <a:rPr lang="es-MX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Matteo</a:t>
            </a:r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Masas”</a:t>
            </a: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9687782-1D9F-67FF-BBE3-130CAEFCB3C6}"/>
              </a:ext>
            </a:extLst>
          </p:cNvPr>
          <p:cNvSpPr txBox="1"/>
          <p:nvPr/>
        </p:nvSpPr>
        <p:spPr>
          <a:xfrm>
            <a:off x="6096000" y="5321006"/>
            <a:ext cx="308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Integrantes: </a:t>
            </a:r>
            <a:r>
              <a:rPr lang="es-CL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-Alyson Cuevas</a:t>
            </a:r>
            <a:endParaRPr lang="es-MX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3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-Thomas Puma</a:t>
            </a:r>
            <a:r>
              <a:rPr lang="es-CL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40D1F80-851F-1973-8268-45A5341C5F39}"/>
              </a:ext>
            </a:extLst>
          </p:cNvPr>
          <p:cNvSpPr txBox="1"/>
          <p:nvPr/>
        </p:nvSpPr>
        <p:spPr>
          <a:xfrm>
            <a:off x="9332259" y="5321006"/>
            <a:ext cx="2079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Fecha</a:t>
            </a:r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15/10/2026</a:t>
            </a:r>
            <a:endParaRPr lang="es-CL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20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1DC5E8F-BDDB-3A4A-323B-4B576C1DFE2F}"/>
              </a:ext>
            </a:extLst>
          </p:cNvPr>
          <p:cNvSpPr/>
          <p:nvPr/>
        </p:nvSpPr>
        <p:spPr>
          <a:xfrm>
            <a:off x="0" y="283045"/>
            <a:ext cx="6257365" cy="34045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98" y="97001"/>
            <a:ext cx="6257366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CL" sz="2400" dirty="0"/>
              <a:t>PROBLEMA Y CONTEXTO DEL NEGOCIO</a:t>
            </a:r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F0026-D2A1-FEC2-6E09-DE4B8D3DE5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3463" y="873943"/>
            <a:ext cx="11605073" cy="229059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just">
              <a:buNone/>
            </a:pPr>
            <a:r>
              <a:rPr lang="es-CL" sz="1800" b="1" dirty="0"/>
              <a:t>Contexto:</a:t>
            </a:r>
            <a:r>
              <a:rPr lang="es-CL" sz="1800" dirty="0"/>
              <a:t> "Matteo Masas" es una pyme familiar comercializadora de masas saladas y dulces situada en la comuna de Padre Hurtado</a:t>
            </a:r>
          </a:p>
          <a:p>
            <a:pPr marL="0" indent="0" algn="just">
              <a:buNone/>
            </a:pPr>
            <a:endParaRPr lang="es-CL" sz="1800" dirty="0"/>
          </a:p>
          <a:p>
            <a:pPr marL="0" indent="0" algn="just">
              <a:buNone/>
            </a:pPr>
            <a:r>
              <a:rPr lang="es-CL" sz="1800" b="1" dirty="0"/>
              <a:t>Problema:</a:t>
            </a:r>
            <a:r>
              <a:rPr lang="es-CL" sz="1800" dirty="0"/>
              <a:t> Control de inventario y recepción de pedidos gestionados manualmente, lo que genera errores en el cálculo de stock y demoras en atención. </a:t>
            </a:r>
          </a:p>
          <a:p>
            <a:pPr marL="0" indent="0" algn="just">
              <a:buNone/>
            </a:pPr>
            <a:endParaRPr lang="es-CL" sz="1800" dirty="0"/>
          </a:p>
          <a:p>
            <a:pPr marL="0" indent="0" algn="just">
              <a:buNone/>
            </a:pPr>
            <a:r>
              <a:rPr lang="es-CL" sz="1800" b="1" dirty="0"/>
              <a:t>Consecuencia:</a:t>
            </a:r>
            <a:r>
              <a:rPr lang="es-CL" sz="1800" dirty="0"/>
              <a:t> Quiebres de stock no notificados, sobreventas en horas pico e inconsistencias en existencias.</a:t>
            </a:r>
            <a:endParaRPr lang="es-CL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CE5A82E-0855-3756-433F-F715AB284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05" y="3429000"/>
            <a:ext cx="2931443" cy="25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06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BB4C7-D01B-3BCB-C12A-831C92914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2729" y="2725822"/>
            <a:ext cx="3603812" cy="1873072"/>
          </a:xfrm>
        </p:spPr>
        <p:txBody>
          <a:bodyPr>
            <a:normAutofit/>
          </a:bodyPr>
          <a:lstStyle/>
          <a:p>
            <a:r>
              <a:rPr lang="es-CL" sz="2800" dirty="0"/>
              <a:t>PROPUESTA DE SOLUCIÓN Y ARQUITECTURA</a:t>
            </a:r>
            <a:endParaRPr lang="es-CL" sz="2800" i="1" dirty="0"/>
          </a:p>
        </p:txBody>
      </p:sp>
    </p:spTree>
    <p:extLst>
      <p:ext uri="{BB962C8B-B14F-4D97-AF65-F5344CB8AC3E}">
        <p14:creationId xmlns:p14="http://schemas.microsoft.com/office/powerpoint/2010/main" val="2186185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63025957-7A26-1AA0-CB66-473C280AA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5585011"/>
            <a:ext cx="2311240" cy="127298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1AE00FEB-18B1-06CE-5DE7-227E58718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2918" y="1"/>
            <a:ext cx="2540702" cy="139937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9D95DE7-0784-7DB6-7270-BA7A11DF722A}"/>
              </a:ext>
            </a:extLst>
          </p:cNvPr>
          <p:cNvSpPr txBox="1"/>
          <p:nvPr/>
        </p:nvSpPr>
        <p:spPr>
          <a:xfrm>
            <a:off x="537883" y="164957"/>
            <a:ext cx="4141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/>
              <a:t>Solución Web Transaccional: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536ACEC-0BB1-4D06-003A-AEF2DD4156B5}"/>
              </a:ext>
            </a:extLst>
          </p:cNvPr>
          <p:cNvSpPr txBox="1"/>
          <p:nvPr/>
        </p:nvSpPr>
        <p:spPr>
          <a:xfrm>
            <a:off x="537883" y="5464879"/>
            <a:ext cx="107128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600" b="1" dirty="0">
                <a:latin typeface="Arial" panose="020B0604020202020204" pitchFamily="34" charset="0"/>
                <a:cs typeface="Arial" panose="020B0604020202020204" pitchFamily="34" charset="0"/>
              </a:rPr>
              <a:t>Stack Tecnológico:</a:t>
            </a:r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 Frontend (HTML5/CSS/JS/Framework) + Backend API REST (Node.js/Python) + BD Relacional (PostgreSQL/MySQL).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8B9FBE7-B67F-D09C-11DA-6082F1D37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7" y="1828663"/>
            <a:ext cx="3869475" cy="305703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2EBF400-F60F-3B38-A0E6-8970F3632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722" y="1682859"/>
            <a:ext cx="4086975" cy="320283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E2B7B83-8C98-4B7D-1013-B741EC90E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0697" y="1972304"/>
            <a:ext cx="4161303" cy="2913392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06B4F614-C468-9D59-1C92-8A1540EE7417}"/>
              </a:ext>
            </a:extLst>
          </p:cNvPr>
          <p:cNvSpPr/>
          <p:nvPr/>
        </p:nvSpPr>
        <p:spPr>
          <a:xfrm>
            <a:off x="0" y="788894"/>
            <a:ext cx="2814918" cy="61047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BB31240-145E-9D52-B735-B9C1CF78F4E4}"/>
              </a:ext>
            </a:extLst>
          </p:cNvPr>
          <p:cNvSpPr txBox="1"/>
          <p:nvPr/>
        </p:nvSpPr>
        <p:spPr>
          <a:xfrm>
            <a:off x="611841" y="909467"/>
            <a:ext cx="1591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/>
              <a:t>Vista Cliente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80647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952E6-0998-EA47-51DE-A8807F35E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1E6C71DC-FDAE-6E50-0DAB-3E2CF4EF0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5585011"/>
            <a:ext cx="2311240" cy="127298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601B2C2-3B9B-4305-7A35-64DE69760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2918" y="1"/>
            <a:ext cx="2540702" cy="139937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3521C26-2A2E-A412-6666-A21F38538ADF}"/>
              </a:ext>
            </a:extLst>
          </p:cNvPr>
          <p:cNvSpPr txBox="1"/>
          <p:nvPr/>
        </p:nvSpPr>
        <p:spPr>
          <a:xfrm>
            <a:off x="537883" y="164957"/>
            <a:ext cx="4141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/>
              <a:t>Solución Web Transaccional: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FC5D143-482D-5CE6-8765-A7910875E5AC}"/>
              </a:ext>
            </a:extLst>
          </p:cNvPr>
          <p:cNvSpPr txBox="1"/>
          <p:nvPr/>
        </p:nvSpPr>
        <p:spPr>
          <a:xfrm>
            <a:off x="537883" y="5464879"/>
            <a:ext cx="107128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600" b="1" dirty="0">
                <a:latin typeface="Arial" panose="020B0604020202020204" pitchFamily="34" charset="0"/>
                <a:cs typeface="Arial" panose="020B0604020202020204" pitchFamily="34" charset="0"/>
              </a:rPr>
              <a:t>Stack Tecnológico:</a:t>
            </a:r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 Frontend (HTML5/CSS/JS/Framework) + Backend API REST (Node.js/Python) + BD Relacional (PostgreSQL/MySQL). 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ACBC108-CB2B-50FB-AA81-1FE126187B81}"/>
              </a:ext>
            </a:extLst>
          </p:cNvPr>
          <p:cNvSpPr/>
          <p:nvPr/>
        </p:nvSpPr>
        <p:spPr>
          <a:xfrm>
            <a:off x="0" y="788894"/>
            <a:ext cx="2814918" cy="61047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B516954-A6C0-3CBC-F8EA-468FAFC5281B}"/>
              </a:ext>
            </a:extLst>
          </p:cNvPr>
          <p:cNvSpPr txBox="1"/>
          <p:nvPr/>
        </p:nvSpPr>
        <p:spPr>
          <a:xfrm>
            <a:off x="611841" y="909467"/>
            <a:ext cx="1591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/>
              <a:t>Vista Admin</a:t>
            </a:r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60FD332-4255-E8C2-8146-419F7998E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2" y="1792941"/>
            <a:ext cx="5957360" cy="294601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C9B5CD9-F8D0-DEA1-B0DB-DE267107C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792941"/>
            <a:ext cx="6004079" cy="294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033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75D5F-3083-1EF5-C86C-E4F5A64AC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7553" y="2645140"/>
            <a:ext cx="3348462" cy="1899966"/>
          </a:xfrm>
        </p:spPr>
        <p:txBody>
          <a:bodyPr>
            <a:normAutofit/>
          </a:bodyPr>
          <a:lstStyle/>
          <a:p>
            <a:r>
              <a:rPr lang="es-CL" sz="2800" dirty="0"/>
              <a:t>MARCO ÁGIL Y ROLES SCRUM</a:t>
            </a: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717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0EBFEA3-8817-7C7F-AABF-CDD33E810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952" y="0"/>
            <a:ext cx="3290047" cy="181209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AEA90C8-230A-610E-0BCD-3C4215749CF4}"/>
              </a:ext>
            </a:extLst>
          </p:cNvPr>
          <p:cNvSpPr txBox="1"/>
          <p:nvPr/>
        </p:nvSpPr>
        <p:spPr>
          <a:xfrm>
            <a:off x="1246094" y="1859339"/>
            <a:ext cx="81489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b="1" dirty="0"/>
              <a:t>Metodología:</a:t>
            </a:r>
            <a:r>
              <a:rPr lang="es-CL" dirty="0"/>
              <a:t> Scrum / Kanban adaptado en 13 semanas (6 Sprints de 2 semanas + 1 semana de cierre).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L" dirty="0"/>
          </a:p>
          <a:p>
            <a:pPr algn="just"/>
            <a:r>
              <a:rPr lang="es-CL" b="1" dirty="0"/>
              <a:t>Roles Formalizados: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b="1" dirty="0"/>
              <a:t>Thomas Puma (PO):</a:t>
            </a:r>
            <a:r>
              <a:rPr lang="es-CL" dirty="0"/>
              <a:t> Lógica Backend, arquitectura de BD, transacciones ACID y pruebas QA.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b="1" dirty="0"/>
              <a:t>Alyson Cuevas (SM):</a:t>
            </a:r>
            <a:r>
              <a:rPr lang="es-CL" dirty="0"/>
              <a:t> Facilitación ágil, desarrollo Frontend, prototipado UX/UI y enlace UAT con la cliente.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L" dirty="0"/>
          </a:p>
          <a:p>
            <a:pPr algn="just"/>
            <a:r>
              <a:rPr lang="es-CL" b="1" dirty="0" err="1"/>
              <a:t>Definition</a:t>
            </a:r>
            <a:r>
              <a:rPr lang="es-CL" b="1" dirty="0"/>
              <a:t> </a:t>
            </a:r>
            <a:r>
              <a:rPr lang="es-CL" b="1" dirty="0" err="1"/>
              <a:t>of</a:t>
            </a:r>
            <a:r>
              <a:rPr lang="es-CL" b="1" dirty="0"/>
              <a:t> Done (DoD):</a:t>
            </a:r>
            <a:r>
              <a:rPr lang="es-CL" dirty="0"/>
              <a:t> Código probado + Pruebas unitarias paso + Figma validado + Aprobación del PO/Cliente.</a:t>
            </a:r>
            <a:endParaRPr lang="es-CL" b="1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76194502-8264-2192-E1C1-3D8B10DFC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952" y="2160822"/>
            <a:ext cx="3200402" cy="413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9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A434F78-297A-7420-F3B7-44016AD9950A}"/>
              </a:ext>
            </a:extLst>
          </p:cNvPr>
          <p:cNvSpPr txBox="1"/>
          <p:nvPr/>
        </p:nvSpPr>
        <p:spPr>
          <a:xfrm>
            <a:off x="1156445" y="1997839"/>
            <a:ext cx="343348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>
                <a:latin typeface="Arial" panose="020B0604020202020204" pitchFamily="34" charset="0"/>
                <a:cs typeface="Arial" panose="020B0604020202020204" pitchFamily="34" charset="0"/>
              </a:rPr>
              <a:t>PUNTOS CRÍTICOS DISCIPLINARES (BACKEND &amp; BD)</a:t>
            </a:r>
            <a:endParaRPr lang="es-CL" sz="32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DA7A7B98-D307-A649-E5C3-E0D9179FD83E}"/>
                  </a:ext>
                </a:extLst>
              </p:cNvPr>
              <p:cNvSpPr txBox="1"/>
              <p:nvPr/>
            </p:nvSpPr>
            <p:spPr>
              <a:xfrm>
                <a:off x="4872310" y="1982449"/>
                <a:ext cx="6638372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s-CL" b="1" dirty="0"/>
                  <a:t>Concurrencia y </a:t>
                </a:r>
                <a:r>
                  <a:rPr lang="es-CL" b="1" dirty="0" err="1"/>
                  <a:t>Lockeo</a:t>
                </a:r>
                <a:r>
                  <a:rPr lang="es-CL" b="1" dirty="0"/>
                  <a:t> (Row-Level Locking):</a:t>
                </a:r>
                <a:r>
                  <a:rPr lang="es-CL" dirty="0"/>
                  <a:t> Uso de SELECT ... FOR UPDATE en SQL para evitar sobreventa de la última unidad de pan/sopaipilla. </a:t>
                </a:r>
              </a:p>
              <a:p>
                <a:endParaRPr lang="es-CL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s-CL" b="1" dirty="0"/>
                  <a:t>Máquina de Estados:</a:t>
                </a:r>
                <a:endParaRPr lang="es-CL" dirty="0"/>
              </a:p>
              <a:p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s-CL"/>
                        <m:t>Pendiente</m:t>
                      </m:r>
                      <m:r>
                        <a:rPr lang="es-CL"/>
                        <m:t>⟶</m:t>
                      </m:r>
                      <m:r>
                        <m:rPr>
                          <m:nor/>
                        </m:rPr>
                        <a:rPr lang="es-CL"/>
                        <m:t>En Preparación</m:t>
                      </m:r>
                      <m:r>
                        <a:rPr lang="es-CL"/>
                        <m:t>⟶</m:t>
                      </m:r>
                      <m:r>
                        <m:rPr>
                          <m:nor/>
                        </m:rPr>
                        <a:rPr lang="es-CL"/>
                        <m:t>Listo</m:t>
                      </m:r>
                      <m:r>
                        <a:rPr lang="es-CL"/>
                        <m:t>⟶</m:t>
                      </m:r>
                      <m:r>
                        <m:rPr>
                          <m:nor/>
                        </m:rPr>
                        <a:rPr lang="es-CL"/>
                        <m:t>Entregado</m:t>
                      </m:r>
                    </m:oMath>
                  </m:oMathPara>
                </a14:m>
                <a:endParaRPr lang="es-MX" dirty="0"/>
              </a:p>
              <a:p>
                <a:endParaRPr lang="es-CL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s-CL" b="1" dirty="0"/>
                  <a:t>Normalización (3FN):</a:t>
                </a:r>
                <a:r>
                  <a:rPr lang="es-CL" dirty="0"/>
                  <a:t> Esquema relacional optimizado para garantizar consistencia ACID.</a:t>
                </a:r>
                <a:endParaRPr lang="es-C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DA7A7B98-D307-A649-E5C3-E0D9179FD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310" y="1982449"/>
                <a:ext cx="6638372" cy="2585323"/>
              </a:xfrm>
              <a:prstGeom prst="rect">
                <a:avLst/>
              </a:prstGeom>
              <a:blipFill>
                <a:blip r:embed="rId2"/>
                <a:stretch>
                  <a:fillRect l="-551" t="-943" r="-459" b="-3066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Imagen 40">
            <a:extLst>
              <a:ext uri="{FF2B5EF4-FFF2-40B4-BE49-F238E27FC236}">
                <a16:creationId xmlns:a16="http://schemas.microsoft.com/office/drawing/2014/main" id="{11F7638C-22D1-A84F-7B73-CF03216B7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965" y="4696215"/>
            <a:ext cx="3039035" cy="21738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1B2E347-1E7A-1240-C304-E4F538D1F6E2}"/>
              </a:ext>
            </a:extLst>
          </p:cNvPr>
          <p:cNvSpPr/>
          <p:nvPr/>
        </p:nvSpPr>
        <p:spPr>
          <a:xfrm>
            <a:off x="632009" y="430306"/>
            <a:ext cx="1048871" cy="1013012"/>
          </a:xfrm>
          <a:prstGeom prst="rect">
            <a:avLst/>
          </a:prstGeom>
          <a:solidFill>
            <a:srgbClr val="4E7CDD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000" dirty="0"/>
              <a:t>03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44037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CB314-CE82-65BE-C60F-1EA15F855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0635" y="2671482"/>
            <a:ext cx="3155577" cy="1927412"/>
          </a:xfrm>
        </p:spPr>
        <p:txBody>
          <a:bodyPr>
            <a:noAutofit/>
          </a:bodyPr>
          <a:lstStyle/>
          <a:p>
            <a:pPr algn="ctr"/>
            <a:r>
              <a:rPr lang="es-CL" sz="2800" dirty="0"/>
              <a:t>INDICADORES CUANTITATIVOS DE ÉXITO (</a:t>
            </a:r>
            <a:r>
              <a:rPr lang="es-CL" sz="2800" dirty="0" err="1"/>
              <a:t>KPIs</a:t>
            </a:r>
            <a:r>
              <a:rPr lang="es-CL" sz="2800" dirty="0"/>
              <a:t>)</a:t>
            </a: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507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348FDD4-EAD3-6A93-A2E3-AA8DD879C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9045388" y="5124905"/>
            <a:ext cx="3146612" cy="173309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B4B2620-1054-4A01-AAEF-BF35EBD71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3146612" cy="173309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9822FA9-CFDB-8C4A-F302-35A6EC880254}"/>
              </a:ext>
            </a:extLst>
          </p:cNvPr>
          <p:cNvSpPr txBox="1"/>
          <p:nvPr/>
        </p:nvSpPr>
        <p:spPr>
          <a:xfrm>
            <a:off x="5503211" y="1136906"/>
            <a:ext cx="988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 err="1"/>
              <a:t>KPIs</a:t>
            </a: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C91C85A4-EA0A-A90C-FCDC-30D7FC4F5C48}"/>
                  </a:ext>
                </a:extLst>
              </p:cNvPr>
              <p:cNvSpPr txBox="1"/>
              <p:nvPr/>
            </p:nvSpPr>
            <p:spPr>
              <a:xfrm>
                <a:off x="2249022" y="1920938"/>
                <a:ext cx="7693955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s-CL" b="1" dirty="0"/>
                  <a:t>KPI 1 (Control de Stock):</a:t>
                </a:r>
                <a:r>
                  <a:rPr lang="es-CL" dirty="0"/>
                  <a:t> Cobertura del 100% en reglas de alerta visual de stock crítico (meta final: 0 quiebres no notificados). </a:t>
                </a:r>
              </a:p>
              <a:p>
                <a:pPr lvl="0"/>
                <a:endParaRPr lang="es-CL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s-CL" b="1" dirty="0"/>
                  <a:t>KPI 2 (Rendimiento Web):</a:t>
                </a:r>
                <a:r>
                  <a:rPr lang="es-CL" dirty="0"/>
                  <a:t> Tiempo de respuesta de las APIs REST </a:t>
                </a:r>
                <a14:m>
                  <m:oMath xmlns:m="http://schemas.openxmlformats.org/officeDocument/2006/math">
                    <m:r>
                      <a:rPr lang="es-CL"/>
                      <m:t>≤300</m:t>
                    </m:r>
                    <m:r>
                      <m:rPr>
                        <m:nor/>
                      </m:rPr>
                      <a:rPr lang="es-CL"/>
                      <m:t> ms</m:t>
                    </m:r>
                  </m:oMath>
                </a14:m>
                <a:r>
                  <a:rPr lang="es-CL" dirty="0"/>
                  <a:t>en carga de catálogo e inventario.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endParaRPr lang="es-CL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s-CL" b="1" dirty="0"/>
                  <a:t>KPI 3 (Adopción UAT):</a:t>
                </a:r>
                <a:r>
                  <a:rPr lang="es-CL" dirty="0"/>
                  <a:t> Meta de </a:t>
                </a:r>
                <a14:m>
                  <m:oMath xmlns:m="http://schemas.openxmlformats.org/officeDocument/2006/math">
                    <m:r>
                      <a:rPr lang="es-CL"/>
                      <m:t>≥90%</m:t>
                    </m:r>
                  </m:oMath>
                </a14:m>
                <a:r>
                  <a:rPr lang="es-CL" dirty="0"/>
                  <a:t>de satisfacción en pruebas de usabilidad con la dueña del local. </a:t>
                </a: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C91C85A4-EA0A-A90C-FCDC-30D7FC4F5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022" y="1920938"/>
                <a:ext cx="7693955" cy="2308324"/>
              </a:xfrm>
              <a:prstGeom prst="rect">
                <a:avLst/>
              </a:prstGeom>
              <a:blipFill>
                <a:blip r:embed="rId3"/>
                <a:stretch>
                  <a:fillRect l="-555" t="-1055" b="-343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agen 12">
            <a:extLst>
              <a:ext uri="{FF2B5EF4-FFF2-40B4-BE49-F238E27FC236}">
                <a16:creationId xmlns:a16="http://schemas.microsoft.com/office/drawing/2014/main" id="{0650B056-D7A1-0FBA-3F52-D91E6E399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762" y="4750886"/>
            <a:ext cx="3651255" cy="107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91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7AC61-C236-FAAF-9FE2-C70E1E1D9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0AF1E-5C72-87E0-5DA6-B6321F23A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2729" y="2725822"/>
            <a:ext cx="3603812" cy="1873072"/>
          </a:xfrm>
        </p:spPr>
        <p:txBody>
          <a:bodyPr>
            <a:normAutofit/>
          </a:bodyPr>
          <a:lstStyle/>
          <a:p>
            <a:r>
              <a:rPr lang="es-CL" sz="2800" dirty="0"/>
              <a:t>EVIDENCIAS DE AVANCE (SPRINTS 0, 1 Y 2)</a:t>
            </a:r>
            <a:endParaRPr lang="es-CL" sz="28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3F0167B-922F-7CB0-A4BF-3EF88445E0E2}"/>
              </a:ext>
            </a:extLst>
          </p:cNvPr>
          <p:cNvSpPr/>
          <p:nvPr/>
        </p:nvSpPr>
        <p:spPr>
          <a:xfrm>
            <a:off x="762000" y="2913529"/>
            <a:ext cx="493059" cy="995083"/>
          </a:xfrm>
          <a:prstGeom prst="rect">
            <a:avLst/>
          </a:prstGeom>
          <a:solidFill>
            <a:srgbClr val="4E7CDD"/>
          </a:solidFill>
          <a:ln>
            <a:solidFill>
              <a:srgbClr val="4E7C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s-CL" sz="8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9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A1CB8-40DA-9E78-973D-C1D246803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279A2DD-D2BE-6019-452F-9B7CE2387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3146612" cy="173309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6F65933-5934-590D-DA2F-089CE950D417}"/>
              </a:ext>
            </a:extLst>
          </p:cNvPr>
          <p:cNvSpPr txBox="1"/>
          <p:nvPr/>
        </p:nvSpPr>
        <p:spPr>
          <a:xfrm>
            <a:off x="1965509" y="2762978"/>
            <a:ext cx="82609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/>
              <a:t>Evidencia 1:</a:t>
            </a:r>
            <a:r>
              <a:rPr lang="es-CL" dirty="0"/>
              <a:t> Diagrama Entidad-Relación (ERD) en 3FN y scripts SQL creados.</a:t>
            </a:r>
          </a:p>
          <a:p>
            <a:r>
              <a:rPr lang="es-CL" b="1" dirty="0"/>
              <a:t>Evidencia 2:</a:t>
            </a:r>
            <a:r>
              <a:rPr lang="es-CL" dirty="0"/>
              <a:t> Prototipos interactivos de alta fidelidad en Figma de ambas vistas.</a:t>
            </a:r>
          </a:p>
          <a:p>
            <a:r>
              <a:rPr lang="es-CL" b="1" dirty="0"/>
              <a:t>Evidencia 3:</a:t>
            </a:r>
            <a:r>
              <a:rPr lang="es-CL" dirty="0"/>
              <a:t> Repositorio GitHub con API REST base y carga dinámica de catálogo. </a:t>
            </a:r>
          </a:p>
          <a:p>
            <a:r>
              <a:rPr lang="es-CL" b="1" dirty="0"/>
              <a:t>Evidencia 4:</a:t>
            </a:r>
            <a:r>
              <a:rPr lang="es-CL" dirty="0"/>
              <a:t> Product Backlog con 5 Épicas e Historias de Usuario con criterios medibles. </a:t>
            </a:r>
          </a:p>
        </p:txBody>
      </p:sp>
      <p:sp>
        <p:nvSpPr>
          <p:cNvPr id="9" name="Globo: flecha hacia abajo 8">
            <a:extLst>
              <a:ext uri="{FF2B5EF4-FFF2-40B4-BE49-F238E27FC236}">
                <a16:creationId xmlns:a16="http://schemas.microsoft.com/office/drawing/2014/main" id="{544EDD0D-9C50-BB5B-D6DE-ACF3DF3EFF7A}"/>
              </a:ext>
            </a:extLst>
          </p:cNvPr>
          <p:cNvSpPr/>
          <p:nvPr/>
        </p:nvSpPr>
        <p:spPr>
          <a:xfrm>
            <a:off x="2465294" y="1344706"/>
            <a:ext cx="7306235" cy="1272988"/>
          </a:xfrm>
          <a:prstGeom prst="downArrowCallout">
            <a:avLst/>
          </a:prstGeom>
          <a:solidFill>
            <a:srgbClr val="4E7C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972B36D-604C-F23F-57C7-1D1DC0824E7F}"/>
              </a:ext>
            </a:extLst>
          </p:cNvPr>
          <p:cNvSpPr txBox="1"/>
          <p:nvPr/>
        </p:nvSpPr>
        <p:spPr>
          <a:xfrm>
            <a:off x="2644587" y="1471485"/>
            <a:ext cx="69028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800" dirty="0"/>
              <a:t>EVIDENCIAS DE AVANCE (SPRINTS 0, 1 Y 2)</a:t>
            </a:r>
            <a:endParaRPr lang="es-CL" dirty="0"/>
          </a:p>
        </p:txBody>
      </p:sp>
      <p:sp>
        <p:nvSpPr>
          <p:cNvPr id="10" name="Abrir corchete 9">
            <a:extLst>
              <a:ext uri="{FF2B5EF4-FFF2-40B4-BE49-F238E27FC236}">
                <a16:creationId xmlns:a16="http://schemas.microsoft.com/office/drawing/2014/main" id="{E3CC4510-549D-DB5D-940A-F619EFE017D1}"/>
              </a:ext>
            </a:extLst>
          </p:cNvPr>
          <p:cNvSpPr/>
          <p:nvPr/>
        </p:nvSpPr>
        <p:spPr>
          <a:xfrm>
            <a:off x="1862415" y="2617694"/>
            <a:ext cx="206188" cy="1733095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es-CL" dirty="0"/>
          </a:p>
        </p:txBody>
      </p:sp>
      <p:sp>
        <p:nvSpPr>
          <p:cNvPr id="15" name="Abrir corchete 14">
            <a:extLst>
              <a:ext uri="{FF2B5EF4-FFF2-40B4-BE49-F238E27FC236}">
                <a16:creationId xmlns:a16="http://schemas.microsoft.com/office/drawing/2014/main" id="{FD14F6DB-9975-5078-AB58-3F8AD51F7F85}"/>
              </a:ext>
            </a:extLst>
          </p:cNvPr>
          <p:cNvSpPr/>
          <p:nvPr/>
        </p:nvSpPr>
        <p:spPr>
          <a:xfrm rot="10800000">
            <a:off x="9962032" y="2562452"/>
            <a:ext cx="206188" cy="1733095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34625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0FCBE-727B-9B72-CD3A-C52A75842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D3CA39AD-0D61-2365-83C9-CCD286EF9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3146612" cy="173309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CF8B8FA-7B3B-270C-0DDA-8B0F41FC2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866" y="241260"/>
            <a:ext cx="9942267" cy="637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27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AC630-82E6-FE99-77B0-BEDA03708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C3076B26-0292-4083-2A84-B2FDC5E23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3146612" cy="173309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F651E12-88C8-2940-3D8F-D24D140F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160"/>
          <a:stretch>
            <a:fillRect/>
          </a:stretch>
        </p:blipFill>
        <p:spPr>
          <a:xfrm>
            <a:off x="173411" y="111498"/>
            <a:ext cx="7455554" cy="184280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6F220C4-05B5-1357-57B7-A777C7CFE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839" y="1844593"/>
            <a:ext cx="9517750" cy="471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38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E25E3-6F66-9C6A-D896-FE7C2E57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77E52D-BF76-82CD-1069-1175417A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1" y="2545976"/>
            <a:ext cx="3603812" cy="2115671"/>
          </a:xfrm>
        </p:spPr>
        <p:txBody>
          <a:bodyPr>
            <a:normAutofit/>
          </a:bodyPr>
          <a:lstStyle/>
          <a:p>
            <a:r>
              <a:rPr lang="es-CL" sz="2800" dirty="0"/>
              <a:t>CRONOGRAMA Y PLAN DE TRABAJO (ROADMAP)</a:t>
            </a: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DFD7DAB-A5E1-492D-BA2F-0A55677F0AE5}"/>
              </a:ext>
            </a:extLst>
          </p:cNvPr>
          <p:cNvSpPr/>
          <p:nvPr/>
        </p:nvSpPr>
        <p:spPr>
          <a:xfrm>
            <a:off x="762000" y="2913529"/>
            <a:ext cx="493059" cy="995083"/>
          </a:xfrm>
          <a:prstGeom prst="rect">
            <a:avLst/>
          </a:prstGeom>
          <a:solidFill>
            <a:srgbClr val="4E7CDD"/>
          </a:solidFill>
          <a:ln>
            <a:solidFill>
              <a:srgbClr val="4E7C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s-CL" sz="8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735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BC2EE-268D-A7FC-2FBB-F07131B2D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DD593EA3-1E38-27E6-0655-FF29EC768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3146612" cy="1733095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689288AE-7158-20B3-D251-33187252D9A9}"/>
              </a:ext>
            </a:extLst>
          </p:cNvPr>
          <p:cNvSpPr txBox="1"/>
          <p:nvPr/>
        </p:nvSpPr>
        <p:spPr>
          <a:xfrm>
            <a:off x="31100" y="2213214"/>
            <a:ext cx="2189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Sprint 0-1 (Completado)</a:t>
            </a:r>
            <a:endParaRPr lang="es-CL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lecha: cheurón 19">
            <a:extLst>
              <a:ext uri="{FF2B5EF4-FFF2-40B4-BE49-F238E27FC236}">
                <a16:creationId xmlns:a16="http://schemas.microsoft.com/office/drawing/2014/main" id="{3A90C49B-19AA-2979-A148-75D8E1688EEA}"/>
              </a:ext>
            </a:extLst>
          </p:cNvPr>
          <p:cNvSpPr/>
          <p:nvPr/>
        </p:nvSpPr>
        <p:spPr>
          <a:xfrm>
            <a:off x="2139773" y="2388606"/>
            <a:ext cx="340659" cy="639053"/>
          </a:xfrm>
          <a:prstGeom prst="chevron">
            <a:avLst>
              <a:gd name="adj" fmla="val 6750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B093167-CDDE-B7D4-9CB3-A0800093A247}"/>
              </a:ext>
            </a:extLst>
          </p:cNvPr>
          <p:cNvCxnSpPr>
            <a:cxnSpLocks/>
          </p:cNvCxnSpPr>
          <p:nvPr/>
        </p:nvCxnSpPr>
        <p:spPr>
          <a:xfrm>
            <a:off x="174812" y="3083641"/>
            <a:ext cx="18680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53C5890-7635-CAF4-2141-44A040254161}"/>
              </a:ext>
            </a:extLst>
          </p:cNvPr>
          <p:cNvSpPr txBox="1"/>
          <p:nvPr/>
        </p:nvSpPr>
        <p:spPr>
          <a:xfrm>
            <a:off x="118232" y="3173252"/>
            <a:ext cx="17839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dirty="0"/>
              <a:t>Configuración, ERD, Figma y Backlog. 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10A2358-3C59-E640-441E-3E09F2A4926A}"/>
              </a:ext>
            </a:extLst>
          </p:cNvPr>
          <p:cNvSpPr txBox="1"/>
          <p:nvPr/>
        </p:nvSpPr>
        <p:spPr>
          <a:xfrm>
            <a:off x="2351567" y="2249922"/>
            <a:ext cx="1708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/>
              <a:t>Sprint 2 (En Curso)</a:t>
            </a:r>
            <a:endParaRPr lang="es-CL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Flecha: cheurón 29">
            <a:extLst>
              <a:ext uri="{FF2B5EF4-FFF2-40B4-BE49-F238E27FC236}">
                <a16:creationId xmlns:a16="http://schemas.microsoft.com/office/drawing/2014/main" id="{2B14AA6B-EA0A-E9A3-003E-62395D69DE0E}"/>
              </a:ext>
            </a:extLst>
          </p:cNvPr>
          <p:cNvSpPr/>
          <p:nvPr/>
        </p:nvSpPr>
        <p:spPr>
          <a:xfrm>
            <a:off x="3969693" y="2388605"/>
            <a:ext cx="340659" cy="639053"/>
          </a:xfrm>
          <a:prstGeom prst="chevron">
            <a:avLst>
              <a:gd name="adj" fmla="val 6750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761DC9C-D298-2C41-7252-4FC88AEB067C}"/>
              </a:ext>
            </a:extLst>
          </p:cNvPr>
          <p:cNvSpPr txBox="1"/>
          <p:nvPr/>
        </p:nvSpPr>
        <p:spPr>
          <a:xfrm>
            <a:off x="4217695" y="2249922"/>
            <a:ext cx="1529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/>
              <a:t>Sprint 3 (Próximo)</a:t>
            </a:r>
            <a:endParaRPr lang="es-CL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Flecha: cheurón 33">
            <a:extLst>
              <a:ext uri="{FF2B5EF4-FFF2-40B4-BE49-F238E27FC236}">
                <a16:creationId xmlns:a16="http://schemas.microsoft.com/office/drawing/2014/main" id="{4C2CDD2D-B375-427D-CBA6-44970EC14015}"/>
              </a:ext>
            </a:extLst>
          </p:cNvPr>
          <p:cNvSpPr/>
          <p:nvPr/>
        </p:nvSpPr>
        <p:spPr>
          <a:xfrm>
            <a:off x="5678024" y="2388604"/>
            <a:ext cx="340659" cy="639053"/>
          </a:xfrm>
          <a:prstGeom prst="chevron">
            <a:avLst>
              <a:gd name="adj" fmla="val 6750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DB1A220-9023-4A61-5105-ACFF4111F8F7}"/>
              </a:ext>
            </a:extLst>
          </p:cNvPr>
          <p:cNvSpPr txBox="1"/>
          <p:nvPr/>
        </p:nvSpPr>
        <p:spPr>
          <a:xfrm>
            <a:off x="5964339" y="2196662"/>
            <a:ext cx="13626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/>
              <a:t>Sprint 4 (Futuro)</a:t>
            </a:r>
            <a:endParaRPr lang="es-CL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Flecha: cheurón 37">
            <a:extLst>
              <a:ext uri="{FF2B5EF4-FFF2-40B4-BE49-F238E27FC236}">
                <a16:creationId xmlns:a16="http://schemas.microsoft.com/office/drawing/2014/main" id="{868D8E7D-A773-991C-D974-6190C15A01EB}"/>
              </a:ext>
            </a:extLst>
          </p:cNvPr>
          <p:cNvSpPr/>
          <p:nvPr/>
        </p:nvSpPr>
        <p:spPr>
          <a:xfrm>
            <a:off x="7216025" y="2345893"/>
            <a:ext cx="340659" cy="639053"/>
          </a:xfrm>
          <a:prstGeom prst="chevron">
            <a:avLst>
              <a:gd name="adj" fmla="val 6750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B2DBA3D-B495-35D2-1D2D-13301096AD28}"/>
              </a:ext>
            </a:extLst>
          </p:cNvPr>
          <p:cNvSpPr txBox="1"/>
          <p:nvPr/>
        </p:nvSpPr>
        <p:spPr>
          <a:xfrm>
            <a:off x="7493938" y="2213214"/>
            <a:ext cx="13626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/>
              <a:t>Sprint 5 (Futuro)</a:t>
            </a:r>
            <a:endParaRPr lang="es-CL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6EEAAFC2-A0C2-E489-4560-2C5473632FED}"/>
              </a:ext>
            </a:extLst>
          </p:cNvPr>
          <p:cNvCxnSpPr>
            <a:cxnSpLocks/>
          </p:cNvCxnSpPr>
          <p:nvPr/>
        </p:nvCxnSpPr>
        <p:spPr>
          <a:xfrm>
            <a:off x="7423341" y="3072972"/>
            <a:ext cx="15038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163FDB23-7BA5-BBCE-2E41-B2F28BA334B3}"/>
              </a:ext>
            </a:extLst>
          </p:cNvPr>
          <p:cNvCxnSpPr>
            <a:cxnSpLocks/>
          </p:cNvCxnSpPr>
          <p:nvPr/>
        </p:nvCxnSpPr>
        <p:spPr>
          <a:xfrm>
            <a:off x="5918949" y="3072972"/>
            <a:ext cx="1297076" cy="79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B063AE2C-B9D2-87A5-55D9-B8300D667F56}"/>
              </a:ext>
            </a:extLst>
          </p:cNvPr>
          <p:cNvCxnSpPr>
            <a:cxnSpLocks/>
          </p:cNvCxnSpPr>
          <p:nvPr/>
        </p:nvCxnSpPr>
        <p:spPr>
          <a:xfrm>
            <a:off x="4151509" y="3080919"/>
            <a:ext cx="15038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7935883C-2713-AEFD-2FF0-422B8EDF2A4E}"/>
              </a:ext>
            </a:extLst>
          </p:cNvPr>
          <p:cNvCxnSpPr>
            <a:cxnSpLocks/>
          </p:cNvCxnSpPr>
          <p:nvPr/>
        </p:nvCxnSpPr>
        <p:spPr>
          <a:xfrm>
            <a:off x="2351567" y="3080919"/>
            <a:ext cx="15570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uadroTexto 46">
            <a:extLst>
              <a:ext uri="{FF2B5EF4-FFF2-40B4-BE49-F238E27FC236}">
                <a16:creationId xmlns:a16="http://schemas.microsoft.com/office/drawing/2014/main" id="{37192ACA-4DF8-C5B2-BF55-98514063DEE3}"/>
              </a:ext>
            </a:extLst>
          </p:cNvPr>
          <p:cNvSpPr txBox="1"/>
          <p:nvPr/>
        </p:nvSpPr>
        <p:spPr>
          <a:xfrm>
            <a:off x="2259955" y="3170825"/>
            <a:ext cx="1891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dirty="0"/>
              <a:t>API Catálogo y Carrito.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3820111D-0A12-8868-E34A-948728E893DB}"/>
              </a:ext>
            </a:extLst>
          </p:cNvPr>
          <p:cNvSpPr txBox="1"/>
          <p:nvPr/>
        </p:nvSpPr>
        <p:spPr>
          <a:xfrm>
            <a:off x="4127129" y="3134175"/>
            <a:ext cx="15508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err="1"/>
              <a:t>Checkout</a:t>
            </a:r>
            <a:r>
              <a:rPr lang="es-CL" dirty="0"/>
              <a:t> y Concurrencia (Row-Level Locking). 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9EE7810-0A48-780C-2DA6-953D9A147199}"/>
              </a:ext>
            </a:extLst>
          </p:cNvPr>
          <p:cNvSpPr txBox="1"/>
          <p:nvPr/>
        </p:nvSpPr>
        <p:spPr>
          <a:xfrm>
            <a:off x="5813053" y="3134177"/>
            <a:ext cx="16097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err="1"/>
              <a:t>Dashboard</a:t>
            </a:r>
            <a:r>
              <a:rPr lang="es-CL" dirty="0"/>
              <a:t> Admin, Máquina de Estados y Alertas.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39B85E27-E8AA-1746-91C8-CAF426B790C8}"/>
                  </a:ext>
                </a:extLst>
              </p:cNvPr>
              <p:cNvSpPr txBox="1"/>
              <p:nvPr/>
            </p:nvSpPr>
            <p:spPr>
              <a:xfrm>
                <a:off x="7326974" y="3114161"/>
                <a:ext cx="167359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L" dirty="0"/>
                  <a:t>QA, Rendimiento (</a:t>
                </a:r>
                <a14:m>
                  <m:oMath xmlns:m="http://schemas.openxmlformats.org/officeDocument/2006/math">
                    <m:r>
                      <a:rPr lang="es-CL"/>
                      <m:t>≤300</m:t>
                    </m:r>
                    <m:r>
                      <m:rPr>
                        <m:nor/>
                      </m:rPr>
                      <a:rPr lang="es-CL"/>
                      <m:t> ms</m:t>
                    </m:r>
                  </m:oMath>
                </a14:m>
                <a:r>
                  <a:rPr lang="es-CL" dirty="0"/>
                  <a:t>) y Pruebas UAT.</a:t>
                </a:r>
              </a:p>
            </p:txBody>
          </p:sp>
        </mc:Choice>
        <mc:Fallback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39B85E27-E8AA-1746-91C8-CAF426B79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6974" y="3114161"/>
                <a:ext cx="1673591" cy="1200329"/>
              </a:xfrm>
              <a:prstGeom prst="rect">
                <a:avLst/>
              </a:prstGeom>
              <a:blipFill>
                <a:blip r:embed="rId3"/>
                <a:stretch>
                  <a:fillRect l="-3285" t="-2538" b="-7614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lecha: cheurón 6">
            <a:extLst>
              <a:ext uri="{FF2B5EF4-FFF2-40B4-BE49-F238E27FC236}">
                <a16:creationId xmlns:a16="http://schemas.microsoft.com/office/drawing/2014/main" id="{861CAAE0-0186-D4E5-377C-39C06DEC24C8}"/>
              </a:ext>
            </a:extLst>
          </p:cNvPr>
          <p:cNvSpPr/>
          <p:nvPr/>
        </p:nvSpPr>
        <p:spPr>
          <a:xfrm>
            <a:off x="8756838" y="2345892"/>
            <a:ext cx="340659" cy="639053"/>
          </a:xfrm>
          <a:prstGeom prst="chevron">
            <a:avLst>
              <a:gd name="adj" fmla="val 6750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F3AA518-7CE4-51C3-6F0A-80C5DA800F9E}"/>
              </a:ext>
            </a:extLst>
          </p:cNvPr>
          <p:cNvSpPr txBox="1"/>
          <p:nvPr/>
        </p:nvSpPr>
        <p:spPr>
          <a:xfrm>
            <a:off x="9039788" y="2241975"/>
            <a:ext cx="22288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/>
              <a:t>Sprint 6 / Cierre (Futuro)</a:t>
            </a:r>
            <a:endParaRPr lang="es-CL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48B4990-61EF-16A9-C59C-864C50A5BA92}"/>
              </a:ext>
            </a:extLst>
          </p:cNvPr>
          <p:cNvCxnSpPr>
            <a:cxnSpLocks/>
          </p:cNvCxnSpPr>
          <p:nvPr/>
        </p:nvCxnSpPr>
        <p:spPr>
          <a:xfrm>
            <a:off x="9039788" y="3072972"/>
            <a:ext cx="2157130" cy="79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ECA5231-EE6A-16A0-4B27-8CF34181CE4D}"/>
              </a:ext>
            </a:extLst>
          </p:cNvPr>
          <p:cNvSpPr txBox="1"/>
          <p:nvPr/>
        </p:nvSpPr>
        <p:spPr>
          <a:xfrm>
            <a:off x="9039788" y="3134174"/>
            <a:ext cx="20674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Despliegue Cloud (</a:t>
            </a:r>
            <a:r>
              <a:rPr lang="es-CL" dirty="0" err="1"/>
              <a:t>Vercel</a:t>
            </a:r>
            <a:r>
              <a:rPr lang="es-CL" dirty="0"/>
              <a:t>/Render) con HTTPS y Defensa. </a:t>
            </a:r>
          </a:p>
        </p:txBody>
      </p:sp>
    </p:spTree>
    <p:extLst>
      <p:ext uri="{BB962C8B-B14F-4D97-AF65-F5344CB8AC3E}">
        <p14:creationId xmlns:p14="http://schemas.microsoft.com/office/powerpoint/2010/main" val="1700125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B3E31-5BD0-02EE-C0F3-9BF2A3A57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F0E5A-72F9-04C7-D1FB-B1DD0AA0D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165" y="2483223"/>
            <a:ext cx="3451411" cy="2277035"/>
          </a:xfrm>
        </p:spPr>
        <p:txBody>
          <a:bodyPr>
            <a:noAutofit/>
          </a:bodyPr>
          <a:lstStyle/>
          <a:p>
            <a:pPr algn="ctr"/>
            <a:r>
              <a:rPr lang="es-CL" sz="2800" dirty="0"/>
              <a:t>CONCLUSIONES Y PRÓXIMOS PASOS</a:t>
            </a:r>
            <a:endParaRPr lang="es-CL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AF0BEBE-2587-049F-994E-460692C01985}"/>
              </a:ext>
            </a:extLst>
          </p:cNvPr>
          <p:cNvSpPr/>
          <p:nvPr/>
        </p:nvSpPr>
        <p:spPr>
          <a:xfrm>
            <a:off x="735106" y="2931458"/>
            <a:ext cx="582706" cy="995083"/>
          </a:xfrm>
          <a:prstGeom prst="rect">
            <a:avLst/>
          </a:prstGeom>
          <a:solidFill>
            <a:srgbClr val="4E7CDD"/>
          </a:solidFill>
          <a:ln>
            <a:solidFill>
              <a:srgbClr val="4E7C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0" b="1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s-CL" sz="8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676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7D4F6-7A2B-B0B0-6618-C0E5A341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12D90412-2145-BF48-D401-44FD072E8AB8}"/>
              </a:ext>
            </a:extLst>
          </p:cNvPr>
          <p:cNvSpPr txBox="1"/>
          <p:nvPr/>
        </p:nvSpPr>
        <p:spPr>
          <a:xfrm>
            <a:off x="4791634" y="2151103"/>
            <a:ext cx="68535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L" dirty="0"/>
              <a:t>Mitigación de riesgos operacionales mediante validaciones asíncronas en Figma.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L" dirty="0"/>
              <a:t>Congelamiento de alcance (Scope Freeze) para asegurar entrega en Semana 13.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s-CL" dirty="0"/>
              <a:t>Enfoque centrado en resolver el problema real de la pyme "Matteo Masas".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3EE3B8F-A472-AAEB-439B-88CBAC9B3A10}"/>
              </a:ext>
            </a:extLst>
          </p:cNvPr>
          <p:cNvSpPr/>
          <p:nvPr/>
        </p:nvSpPr>
        <p:spPr>
          <a:xfrm>
            <a:off x="672346" y="900692"/>
            <a:ext cx="912159" cy="5056615"/>
          </a:xfrm>
          <a:prstGeom prst="rect">
            <a:avLst/>
          </a:prstGeom>
          <a:solidFill>
            <a:srgbClr val="4E7CDD"/>
          </a:solidFill>
          <a:ln>
            <a:solidFill>
              <a:srgbClr val="4E7C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9D1E162-5ABB-D28D-9DF9-29F3B6674EFF}"/>
              </a:ext>
            </a:extLst>
          </p:cNvPr>
          <p:cNvSpPr txBox="1"/>
          <p:nvPr/>
        </p:nvSpPr>
        <p:spPr>
          <a:xfrm>
            <a:off x="672346" y="2459973"/>
            <a:ext cx="39075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L" dirty="0"/>
              <a:t>Para garantizar el éxito de la entrega en la semana 13, mantendremos el alcance congelado y seguiremos aplicando la </a:t>
            </a:r>
            <a:r>
              <a:rPr lang="es-CL" dirty="0" err="1"/>
              <a:t>Definition</a:t>
            </a:r>
            <a:r>
              <a:rPr lang="es-CL" dirty="0"/>
              <a:t> </a:t>
            </a:r>
            <a:r>
              <a:rPr lang="es-CL" dirty="0" err="1"/>
              <a:t>of</a:t>
            </a:r>
            <a:r>
              <a:rPr lang="es-CL" dirty="0"/>
              <a:t> Done estrictamente en cada Sprint.</a:t>
            </a:r>
            <a:endParaRPr lang="es-CL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222F4F0-5899-5C42-7C1C-F4E40EFFF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129" y="3703384"/>
            <a:ext cx="4096871" cy="307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475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ECA14C5-BB8F-79D7-A541-4EDE3C3F4920}"/>
              </a:ext>
            </a:extLst>
          </p:cNvPr>
          <p:cNvSpPr txBox="1"/>
          <p:nvPr/>
        </p:nvSpPr>
        <p:spPr>
          <a:xfrm>
            <a:off x="3933262" y="1290918"/>
            <a:ext cx="4325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¡MUCHAS GRACIAS!</a:t>
            </a:r>
            <a:endParaRPr lang="es-CL" sz="4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684C7CB-D836-3B4B-33CC-43093503B6A6}"/>
              </a:ext>
            </a:extLst>
          </p:cNvPr>
          <p:cNvSpPr txBox="1"/>
          <p:nvPr/>
        </p:nvSpPr>
        <p:spPr>
          <a:xfrm>
            <a:off x="3941402" y="3998259"/>
            <a:ext cx="43091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¡POR LA ATENCIÓN!</a:t>
            </a:r>
          </a:p>
        </p:txBody>
      </p:sp>
    </p:spTree>
    <p:extLst>
      <p:ext uri="{BB962C8B-B14F-4D97-AF65-F5344CB8AC3E}">
        <p14:creationId xmlns:p14="http://schemas.microsoft.com/office/powerpoint/2010/main" val="19921246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28BDBD65D93F4BA99B6439AFEA320E" ma:contentTypeVersion="10" ma:contentTypeDescription="Crear nuevo documento." ma:contentTypeScope="" ma:versionID="11d45d99e0339591c68aad091688ac92">
  <xsd:schema xmlns:xsd="http://www.w3.org/2001/XMLSchema" xmlns:xs="http://www.w3.org/2001/XMLSchema" xmlns:p="http://schemas.microsoft.com/office/2006/metadata/properties" xmlns:ns2="9b0ef35d-78e7-41bf-847f-3c0497ad5352" xmlns:ns3="3c969135-7855-44e0-a9fe-01d799f07605" targetNamespace="http://schemas.microsoft.com/office/2006/metadata/properties" ma:root="true" ma:fieldsID="0e603a3f7bf67670d682b80385fe4b00" ns2:_="" ns3:_="">
    <xsd:import namespace="9b0ef35d-78e7-41bf-847f-3c0497ad5352"/>
    <xsd:import namespace="3c969135-7855-44e0-a9fe-01d799f076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ef35d-78e7-41bf-847f-3c0497ad53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69135-7855-44e0-a9fe-01d799f0760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c969135-7855-44e0-a9fe-01d799f07605">
      <UserInfo>
        <DisplayName>Patricio alejandro Yanez Ahumada</DisplayName>
        <AccountId>12</AccountId>
        <AccountType/>
      </UserInfo>
      <UserInfo>
        <DisplayName>Victoria Acevedo D</DisplayName>
        <AccountId>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4635AD-4573-49F2-BAD3-1FD3B2C9C4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0ef35d-78e7-41bf-847f-3c0497ad5352"/>
    <ds:schemaRef ds:uri="3c969135-7855-44e0-a9fe-01d799f076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58CA3E-C0DA-46ED-9440-7D10196C7762}">
  <ds:schemaRefs>
    <ds:schemaRef ds:uri="http://schemas.microsoft.com/office/2006/metadata/properties"/>
    <ds:schemaRef ds:uri="http://schemas.microsoft.com/office/infopath/2007/PartnerControls"/>
    <ds:schemaRef ds:uri="3c969135-7855-44e0-a9fe-01d799f07605"/>
  </ds:schemaRefs>
</ds:datastoreItem>
</file>

<file path=customXml/itemProps3.xml><?xml version="1.0" encoding="utf-8"?>
<ds:datastoreItem xmlns:ds="http://schemas.openxmlformats.org/officeDocument/2006/customXml" ds:itemID="{47BD4256-76F8-4EE6-AF14-F39F3CD068A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929</TotalTime>
  <Words>678</Words>
  <Application>Microsoft Office PowerPoint</Application>
  <PresentationFormat>Panorámica</PresentationFormat>
  <Paragraphs>72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Wingdings</vt:lpstr>
      <vt:lpstr>Tema de Office</vt:lpstr>
      <vt:lpstr>CAPSTONE Fase 2</vt:lpstr>
      <vt:lpstr>Presentación de PowerPoint</vt:lpstr>
      <vt:lpstr>PROPUESTA DE SOLUCIÓN Y ARQUITECTURA</vt:lpstr>
      <vt:lpstr>Presentación de PowerPoint</vt:lpstr>
      <vt:lpstr>Presentación de PowerPoint</vt:lpstr>
      <vt:lpstr>MARCO ÁGIL Y ROLES SCRUM</vt:lpstr>
      <vt:lpstr>Presentación de PowerPoint</vt:lpstr>
      <vt:lpstr>Presentación de PowerPoint</vt:lpstr>
      <vt:lpstr>INDICADORES CUANTITATIVOS DE ÉXITO (KPIs)</vt:lpstr>
      <vt:lpstr>Presentación de PowerPoint</vt:lpstr>
      <vt:lpstr>EVIDENCIAS DE AVANCE (SPRINTS 0, 1 Y 2)</vt:lpstr>
      <vt:lpstr>Presentación de PowerPoint</vt:lpstr>
      <vt:lpstr>Presentación de PowerPoint</vt:lpstr>
      <vt:lpstr>Presentación de PowerPoint</vt:lpstr>
      <vt:lpstr>CRONOGRAMA Y PLAN DE TRABAJO (ROADMAP)</vt:lpstr>
      <vt:lpstr>Presentación de PowerPoint</vt:lpstr>
      <vt:lpstr>CONCLUSIONES Y PRÓXIMOS PASOS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 Osorio C.</dc:creator>
  <cp:lastModifiedBy>Alyson Cuevas</cp:lastModifiedBy>
  <cp:revision>19</cp:revision>
  <dcterms:created xsi:type="dcterms:W3CDTF">2024-03-07T18:55:37Z</dcterms:created>
  <dcterms:modified xsi:type="dcterms:W3CDTF">2026-10-15T07:17:18Z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0x010100AF28BDBD65D93F4BA99B6439AFEA320E</vt:lpwstr>
  </property>
</Properties>
</file>